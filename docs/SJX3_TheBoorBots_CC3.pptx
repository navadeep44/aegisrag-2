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Team: Navadeep Gandloju (leader), Adithya Mamidala.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767" y="1406978"/>
            <a:ext cx="10566466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767" y="2179098"/>
            <a:ext cx="10566433" cy="3866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767" y="1406978"/>
            <a:ext cx="10566466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767" y="2179098"/>
            <a:ext cx="10566433" cy="3866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Relationship Id="rId6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Relationship Id="rId7" Type="http://schemas.openxmlformats.org/officeDocument/2006/relationships/hyperlink" Target="https://github.com/Navadeep44/aegisrag-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56" cy="6857999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Shape 1"/>
          <p:cNvSpPr/>
          <p:nvPr/>
        </p:nvSpPr>
        <p:spPr>
          <a:xfrm>
            <a:off x="812767" y="508000"/>
            <a:ext cx="10566466" cy="863589"/>
          </a:xfrm>
          <a:prstGeom prst="roundRect">
            <a:avLst>
              <a:gd name="adj" fmla="val 11765"/>
            </a:avLst>
          </a:prstGeom>
          <a:solidFill>
            <a:srgbClr val="F6F0E6"/>
          </a:solidFill>
          <a:ln/>
        </p:spPr>
      </p:sp>
      <p:pic>
        <p:nvPicPr>
          <p:cNvPr id="4" name="Image 0" descr="Atmiya University logo">    </p:cNvPr>
          <p:cNvPicPr>
            <a:picLocks noChangeAspect="1"/>
          </p:cNvPicPr>
          <p:nvPr/>
        </p:nvPicPr>
        <p:blipFill>
          <a:blip r:embed="rId1"/>
          <a:srcRect l="-84" r="-84" t="0" b="0"/>
          <a:stretch/>
        </p:blipFill>
        <p:spPr>
          <a:xfrm>
            <a:off x="1066767" y="685767"/>
            <a:ext cx="1790678" cy="508000"/>
          </a:xfrm>
          <a:prstGeom prst="rect">
            <a:avLst/>
          </a:prstGeom>
        </p:spPr>
      </p:pic>
      <p:pic>
        <p:nvPicPr>
          <p:cNvPr id="5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8731360" y="635000"/>
            <a:ext cx="609589" cy="609589"/>
          </a:xfrm>
          <a:prstGeom prst="rect">
            <a:avLst/>
          </a:prstGeom>
        </p:spPr>
      </p:pic>
      <p:pic>
        <p:nvPicPr>
          <p:cNvPr id="6" name="Image 2" descr="ADSC logo">    </p:cNvPr>
          <p:cNvPicPr>
            <a:picLocks noChangeAspect="1"/>
          </p:cNvPicPr>
          <p:nvPr/>
        </p:nvPicPr>
        <p:blipFill>
          <a:blip r:embed="rId3"/>
          <a:srcRect l="0" r="0" t="-76" b="-76"/>
          <a:stretch/>
        </p:blipFill>
        <p:spPr>
          <a:xfrm>
            <a:off x="9645716" y="774678"/>
            <a:ext cx="1479517" cy="330178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12767" y="2231705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3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ATMIYA DEVELOPER STUDENTS CLUB PRESENTS</a:t>
            </a:r>
            <a:endParaRPr lang="en-US" sz="1200" dirty="0"/>
          </a:p>
        </p:txBody>
      </p:sp>
      <p:sp>
        <p:nvSpPr>
          <p:cNvPr id="8" name="Text 3"/>
          <p:cNvSpPr/>
          <p:nvPr>
            <p:ph type="title"/>
          </p:nvPr>
        </p:nvSpPr>
        <p:spPr>
          <a:xfrm>
            <a:off x="812767" y="2673670"/>
            <a:ext cx="10883460" cy="985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1" i="0" spc="100" kern="0" dirty="0">
                <a:solidFill>
                  <a:srgbClr val="F6F0E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CODE CARNIVAL </a:t>
            </a:r>
            <a:r>
              <a:rPr lang="en-US" sz="7200" b="1" i="0" spc="100" kern="0" dirty="0">
                <a:solidFill>
                  <a:srgbClr val="EF435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3.0</a:t>
            </a:r>
            <a:endParaRPr lang="en-US" sz="7200" dirty="0"/>
          </a:p>
        </p:txBody>
      </p:sp>
      <p:sp>
        <p:nvSpPr>
          <p:cNvPr id="9" name="Text 4"/>
          <p:cNvSpPr/>
          <p:nvPr/>
        </p:nvSpPr>
        <p:spPr>
          <a:xfrm>
            <a:off x="812767" y="3862365"/>
            <a:ext cx="1088346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D9CF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AegisRAG  ·  Answers only from the files you are allowed to read  ·  Navadeep Gandloju &amp; Adithya Mamidala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815942" y="4378556"/>
            <a:ext cx="3414216" cy="853987"/>
          </a:xfrm>
          <a:prstGeom prst="roundRect">
            <a:avLst>
              <a:gd name="adj" fmla="val 557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94062" y="4531265"/>
            <a:ext cx="314971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TEAM NAME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994062" y="4795407"/>
            <a:ext cx="3149716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388864" y="4378556"/>
            <a:ext cx="3414216" cy="853987"/>
          </a:xfrm>
          <a:prstGeom prst="roundRect">
            <a:avLst>
              <a:gd name="adj" fmla="val 557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66984" y="4531265"/>
            <a:ext cx="314971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TEAM ID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566984" y="4795407"/>
            <a:ext cx="3149716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SJX3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7961786" y="4378556"/>
            <a:ext cx="3414216" cy="853987"/>
          </a:xfrm>
          <a:prstGeom prst="roundRect">
            <a:avLst>
              <a:gd name="adj" fmla="val 557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39905" y="4531265"/>
            <a:ext cx="314971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TEAM LEADER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139905" y="4795407"/>
            <a:ext cx="3149716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Navadeep Gandloju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15942" y="5391249"/>
            <a:ext cx="6987139" cy="853987"/>
          </a:xfrm>
          <a:prstGeom prst="roundRect">
            <a:avLst>
              <a:gd name="adj" fmla="val 557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94062" y="5543958"/>
            <a:ext cx="682982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PROBLEM STATEMENT TITLE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94062" y="5808100"/>
            <a:ext cx="6829826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PS-01 · Secure Multi-Modal RAG System with Access Control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7961786" y="5391249"/>
            <a:ext cx="3414216" cy="853987"/>
          </a:xfrm>
          <a:prstGeom prst="roundRect">
            <a:avLst>
              <a:gd name="adj" fmla="val 557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139905" y="5543958"/>
            <a:ext cx="314971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THEME / TRACK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139905" y="5808100"/>
            <a:ext cx="3149716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AI Security · Enterprise RAG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812767" y="330178"/>
            <a:ext cx="1428750" cy="406356"/>
          </a:xfrm>
          <a:prstGeom prst="rect">
            <a:avLst/>
          </a:prstGeom>
        </p:spPr>
      </p:pic>
      <p:pic>
        <p:nvPicPr>
          <p:cNvPr id="3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467948" y="304767"/>
            <a:ext cx="457178" cy="457178"/>
          </a:xfrm>
          <a:prstGeom prst="rect">
            <a:avLst/>
          </a:prstGeom>
        </p:spPr>
      </p:pic>
      <p:pic>
        <p:nvPicPr>
          <p:cNvPr id="4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10128304" y="393678"/>
            <a:ext cx="1250928" cy="27935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812767" y="939713"/>
            <a:ext cx="10566466" cy="2535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812767" y="1142836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01 · THE TARGET</a:t>
            </a:r>
            <a:endParaRPr lang="en-US" sz="1200" dirty="0"/>
          </a:p>
        </p:txBody>
      </p:sp>
      <p:sp>
        <p:nvSpPr>
          <p:cNvPr id="7" name="Text 2"/>
          <p:cNvSpPr/>
          <p:nvPr>
            <p:ph type="title"/>
          </p:nvPr>
        </p:nvSpPr>
        <p:spPr>
          <a:xfrm>
            <a:off x="812767" y="1406978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PROBLEM STATEMENT &amp; UNDERSTANDING</a:t>
            </a:r>
            <a:endParaRPr lang="en-US" sz="3200" dirty="0"/>
          </a:p>
        </p:txBody>
      </p:sp>
      <p:sp>
        <p:nvSpPr>
          <p:cNvPr id="15" name="Text 10"/>
          <p:cNvSpPr/>
          <p:nvPr/>
        </p:nvSpPr>
        <p:spPr>
          <a:xfrm>
            <a:off x="812767" y="6238269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504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108983" y="6238269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  <p:sp>
        <p:nvSpPr>
          <p:cNvPr id="17" name="Rounded Rectangle 16"/>
          <p:cNvSpPr/>
          <p:nvPr/>
        </p:nvSpPr>
        <p:spPr>
          <a:xfrm>
            <a:off x="813816" y="2057400"/>
            <a:ext cx="4434840" cy="393192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42416" y="2240280"/>
            <a:ext cx="39776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PROBLEM STATEMENT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2679192"/>
            <a:ext cx="3931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800"/>
              </a:spcAft>
              <a:buChar char="•"/>
            </a:pPr>
            <a:r>
              <a:rPr sz="1400">
                <a:solidFill>
                  <a:srgbClr val="1E1917"/>
                </a:solidFill>
                <a:latin typeface="Public Sans"/>
              </a:rPr>
              <a:t>Companies want one AI assistant over all internal files, but every file has its own readers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sz="1400">
                <a:solidFill>
                  <a:srgbClr val="1E1917"/>
                </a:solidFill>
                <a:latin typeface="Public Sans"/>
              </a:rPr>
              <a:t>Files mix PDFs, scans, photos and spreadsheets; access rules must hold for every format</a:t>
            </a:r>
          </a:p>
          <a:p>
            <a:pPr marL="182880" indent="-182880">
              <a:spcAft>
                <a:spcPts val="800"/>
              </a:spcAft>
              <a:buChar char="•"/>
            </a:pPr>
            <a:r>
              <a:rPr sz="1400" b="1">
                <a:solidFill>
                  <a:srgbClr val="1E1917"/>
                </a:solidFill>
                <a:latin typeface="Public Sans"/>
              </a:rPr>
              <a:t>Who it hurts: </a:t>
            </a:r>
            <a:r>
              <a:rPr sz="1400">
                <a:solidFill>
                  <a:srgbClr val="1E1917"/>
                </a:solidFill>
                <a:latin typeface="Public Sans"/>
              </a:rPr>
              <a:t>employees who leak by accident, admins who carry the risk, auditors who can't prove who saw what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2416" y="4965192"/>
            <a:ext cx="3977639" cy="804672"/>
          </a:xfrm>
          <a:prstGeom prst="roundRect">
            <a:avLst>
              <a:gd name="adj" fmla="val 8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25296" y="4965192"/>
            <a:ext cx="361187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06A7E"/>
                </a:solidFill>
                <a:latin typeface="Public Sans"/>
              </a:rPr>
              <a:t>OUR THESIS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Public Sans"/>
              </a:rPr>
              <a:t>Authorization is not a prompt instruction. It is compiled into the SQL query.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77255" y="2057400"/>
            <a:ext cx="5907024" cy="393192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05855" y="2240280"/>
            <a:ext cx="54498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WHERE TODAY'S RAG FAILS  →  HOW AEGISRAG FIXES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05855" y="2679192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FBE9EB"/>
          </a:solidFill>
          <a:ln w="12700">
            <a:solidFill>
              <a:srgbClr val="F0C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824727" y="2679192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8A1024"/>
                </a:solidFill>
                <a:latin typeface="Public Sans"/>
              </a:rPr>
              <a:t>Filters after ranking: leaks metadata, wastes top-K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16468" y="3054096"/>
            <a:ext cx="228600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590788" y="2679192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EAF4EC"/>
          </a:solidFill>
          <a:ln w="12700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709660" y="2679192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6B3A"/>
                </a:solidFill>
                <a:latin typeface="Public Sans"/>
              </a:rPr>
              <a:t>Permission filter runs inside SQL, before any ranking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5855" y="3520440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FBE9EB"/>
          </a:solidFill>
          <a:ln w="12700">
            <a:solidFill>
              <a:srgbClr val="F0C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24727" y="3520440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8A1024"/>
                </a:solidFill>
                <a:latin typeface="Public Sans"/>
              </a:rPr>
              <a:t>Access rules written in the prompt fall to injection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16468" y="3895344"/>
            <a:ext cx="228600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90788" y="3520440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EAF4EC"/>
          </a:solidFill>
          <a:ln w="12700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709660" y="3520440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6B3A"/>
                </a:solidFill>
                <a:latin typeface="Public Sans"/>
              </a:rPr>
              <a:t>Model only ever receives chunks the user may read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05855" y="4361688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FBE9EB"/>
          </a:solidFill>
          <a:ln w="12700">
            <a:solidFill>
              <a:srgbClr val="F0C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824727" y="4361688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8A1024"/>
                </a:solidFill>
                <a:latin typeface="Public Sans"/>
              </a:rPr>
              <a:t>LLMs guess totals and invent citations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16468" y="4736592"/>
            <a:ext cx="228600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590788" y="4361688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EAF4EC"/>
          </a:solidFill>
          <a:ln w="12700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709660" y="4361688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6B3A"/>
                </a:solidFill>
                <a:latin typeface="Public Sans"/>
              </a:rPr>
              <a:t>Math runs in code; every claim checked against its source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05855" y="5202936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FBE9EB"/>
          </a:solidFill>
          <a:ln w="12700">
            <a:solidFill>
              <a:srgbClr val="F0C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824727" y="5202936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8A1024"/>
                </a:solidFill>
                <a:latin typeface="Public Sans"/>
              </a:rPr>
              <a:t>Old chat answers survive revoked access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316468" y="5577840"/>
            <a:ext cx="228600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590788" y="5202936"/>
            <a:ext cx="2564892" cy="749808"/>
          </a:xfrm>
          <a:prstGeom prst="roundRect">
            <a:avLst>
              <a:gd name="adj" fmla="val 8000"/>
            </a:avLst>
          </a:prstGeom>
          <a:solidFill>
            <a:srgbClr val="EAF4EC"/>
          </a:solidFill>
          <a:ln w="12700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709660" y="5202936"/>
            <a:ext cx="23271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6B3A"/>
                </a:solidFill>
                <a:latin typeface="Public Sans"/>
              </a:rPr>
              <a:t>History re-checked on open; lost answers are redacted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812767" y="330178"/>
            <a:ext cx="1428750" cy="406356"/>
          </a:xfrm>
          <a:prstGeom prst="rect">
            <a:avLst/>
          </a:prstGeom>
        </p:spPr>
      </p:pic>
      <p:pic>
        <p:nvPicPr>
          <p:cNvPr id="3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467948" y="304767"/>
            <a:ext cx="457178" cy="457178"/>
          </a:xfrm>
          <a:prstGeom prst="rect">
            <a:avLst/>
          </a:prstGeom>
        </p:spPr>
      </p:pic>
      <p:pic>
        <p:nvPicPr>
          <p:cNvPr id="4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10128304" y="393678"/>
            <a:ext cx="1250928" cy="27935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812767" y="939712"/>
            <a:ext cx="10566466" cy="2535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812767" y="1142834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02 · THE PLAN</a:t>
            </a:r>
            <a:endParaRPr lang="en-US" sz="1200" dirty="0"/>
          </a:p>
        </p:txBody>
      </p:sp>
      <p:sp>
        <p:nvSpPr>
          <p:cNvPr id="7" name="Text 2"/>
          <p:cNvSpPr/>
          <p:nvPr>
            <p:ph type="title"/>
          </p:nvPr>
        </p:nvSpPr>
        <p:spPr>
          <a:xfrm>
            <a:off x="812767" y="1406978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15" name="Text 10"/>
          <p:cNvSpPr/>
          <p:nvPr/>
        </p:nvSpPr>
        <p:spPr>
          <a:xfrm>
            <a:off x="812767" y="6238269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504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108983" y="6238269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  <p:sp>
        <p:nvSpPr>
          <p:cNvPr id="17" name="Rounded Rectangle 16"/>
          <p:cNvSpPr/>
          <p:nvPr/>
        </p:nvSpPr>
        <p:spPr>
          <a:xfrm>
            <a:off x="813816" y="2057400"/>
            <a:ext cx="4434840" cy="269748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42416" y="2240280"/>
            <a:ext cx="39776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OUR IDEA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" y="2660904"/>
            <a:ext cx="3931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3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Permissions are compiled into the retrieval SQL query</a:t>
            </a:r>
          </a:p>
          <a:p>
            <a:pPr marL="182880" indent="-182880">
              <a:spcAft>
                <a:spcPts val="3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Restricted chunks are never loaded, ranked or sent to the model</a:t>
            </a:r>
          </a:p>
          <a:p>
            <a:pPr marL="182880" indent="-182880">
              <a:spcAft>
                <a:spcPts val="3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Spreadsheet totals computed in code, on permitted rows only</a:t>
            </a:r>
          </a:p>
          <a:p>
            <a:pPr marL="182880" indent="-182880">
              <a:spcAft>
                <a:spcPts val="3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Every claim checked against its source, then highlighted</a:t>
            </a:r>
          </a:p>
          <a:p>
            <a:pPr marL="182880" indent="-182880">
              <a:spcAft>
                <a:spcPts val="3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Ask by voice and hear answers read aloud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77255" y="2057400"/>
            <a:ext cx="5907024" cy="269748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g_concep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0743" y="2194560"/>
            <a:ext cx="3880049" cy="2130552"/>
          </a:xfrm>
          <a:prstGeom prst="rect">
            <a:avLst/>
          </a:prstGeom>
          <a:ln w="9525">
            <a:solidFill>
              <a:srgbClr val="E2D8C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614416" y="4379976"/>
            <a:ext cx="56327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5A504A"/>
                </a:solidFill>
                <a:latin typeface="Public Sans"/>
              </a:rPr>
              <a:t>Deny by default: blocked chunks are filtered inside the database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" y="4956048"/>
            <a:ext cx="2505456" cy="1033271"/>
          </a:xfrm>
          <a:prstGeom prst="roundRect">
            <a:avLst>
              <a:gd name="adj" fmla="val 6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96696" y="5029200"/>
            <a:ext cx="21396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04A62"/>
                </a:solidFill>
                <a:latin typeface="Oswal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5504688"/>
            <a:ext cx="2139696" cy="43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6F0E6"/>
                </a:solidFill>
                <a:latin typeface="Public Sans"/>
              </a:rPr>
              <a:t>restricted chunks ever reach the model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2152" y="4956048"/>
            <a:ext cx="2505456" cy="1033271"/>
          </a:xfrm>
          <a:prstGeom prst="roundRect">
            <a:avLst>
              <a:gd name="adj" fmla="val 6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85032" y="5029200"/>
            <a:ext cx="21396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04A62"/>
                </a:solidFill>
                <a:latin typeface="Oswald"/>
              </a:rPr>
              <a:t>EXACT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5504688"/>
            <a:ext cx="2139696" cy="43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6F0E6"/>
                </a:solidFill>
                <a:latin typeface="Public Sans"/>
              </a:rPr>
              <a:t>totals computed in code, never guessed by the LLM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956048"/>
            <a:ext cx="2505456" cy="1033271"/>
          </a:xfrm>
          <a:prstGeom prst="roundRect">
            <a:avLst>
              <a:gd name="adj" fmla="val 6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73368" y="5029200"/>
            <a:ext cx="21396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04A62"/>
                </a:solidFill>
                <a:latin typeface="Oswald"/>
              </a:rPr>
              <a:t>97 / 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5504688"/>
            <a:ext cx="2139696" cy="43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6F0E6"/>
                </a:solidFill>
                <a:latin typeface="Public Sans"/>
              </a:rPr>
              <a:t>backend tests passing, incl. 18 attack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78824" y="4956048"/>
            <a:ext cx="2505456" cy="1033271"/>
          </a:xfrm>
          <a:prstGeom prst="roundRect">
            <a:avLst>
              <a:gd name="adj" fmla="val 6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61704" y="5029200"/>
            <a:ext cx="213969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04A62"/>
                </a:solidFill>
                <a:latin typeface="Oswald"/>
              </a:rPr>
              <a:t>VOICE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5504688"/>
            <a:ext cx="2139696" cy="43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6F0E6"/>
                </a:solidFill>
                <a:latin typeface="Public Sans"/>
              </a:rPr>
              <a:t>speak your question; listen to the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812767" y="330178"/>
            <a:ext cx="1428750" cy="406356"/>
          </a:xfrm>
          <a:prstGeom prst="rect">
            <a:avLst/>
          </a:prstGeom>
        </p:spPr>
      </p:pic>
      <p:pic>
        <p:nvPicPr>
          <p:cNvPr id="3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467948" y="304769"/>
            <a:ext cx="457178" cy="457178"/>
          </a:xfrm>
          <a:prstGeom prst="rect">
            <a:avLst/>
          </a:prstGeom>
        </p:spPr>
      </p:pic>
      <p:pic>
        <p:nvPicPr>
          <p:cNvPr id="4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10128304" y="393678"/>
            <a:ext cx="1250928" cy="27935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812767" y="939713"/>
            <a:ext cx="10566466" cy="2535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812767" y="1142836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03 · THE ARSENAL</a:t>
            </a:r>
            <a:endParaRPr lang="en-US" sz="1200" dirty="0"/>
          </a:p>
        </p:txBody>
      </p:sp>
      <p:sp>
        <p:nvSpPr>
          <p:cNvPr id="7" name="Text 2"/>
          <p:cNvSpPr/>
          <p:nvPr>
            <p:ph type="title"/>
          </p:nvPr>
        </p:nvSpPr>
        <p:spPr>
          <a:xfrm>
            <a:off x="812767" y="1406978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KEY FEATURES / FUNCTIONALITY</a:t>
            </a:r>
            <a:endParaRPr lang="en-US" sz="3200" dirty="0"/>
          </a:p>
        </p:txBody>
      </p:sp>
      <p:sp>
        <p:nvSpPr>
          <p:cNvPr id="25" name="Text 20"/>
          <p:cNvSpPr/>
          <p:nvPr/>
        </p:nvSpPr>
        <p:spPr>
          <a:xfrm>
            <a:off x="812767" y="6238270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504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108983" y="6238270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813816" y="2057400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2194560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SQL access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60320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Tenant, grant and clearance compiled into every query. Admins get no implicit content access.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3008" y="2057400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639312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9935" y="2194560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Row-level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9312" y="2560320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Each spreadsheet row has its own rule: same question, a different correct total per user.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199" y="2057400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18503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39127" y="2194560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Multimodal ingestion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3" y="2560320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PDFs, scans, photos, DOCX, XLSX, CSV, JSON. Magic-byte checks stop disguised files.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51392" y="2057400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997696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2194560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Injection sanitizer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7696" y="2560320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Hidden “ignore previous instructions” text is stripped, the file flagged and the event audited.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" y="3416807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60120" y="352653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80744" y="3553967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Hybrid search + 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919727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768-d vectors plus BM25, fused by rank. Finds concepts and exact IDs like EXP-1001.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93008" y="3416807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39312" y="352653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59935" y="3553967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Exact analytics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9312" y="3919727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SUM, AVG, COUNT, GROUP BY run in code on authorized rows; the plan is shown.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72199" y="3416807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318503" y="352653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9127" y="3553967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Claim-level grounding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18503" y="3919727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Numbers must appear in the cited chunk and ≥ 50% of words match, or the claim is cut.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51392" y="3416807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997696" y="352653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18319" y="3553967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Highlighted citations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97696" y="3919727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Opens the source page or photo with the exact supporting sentence highlighted.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3816" y="4776215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60120" y="488594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80744" y="4913376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History scrub + audit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279135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Lose access and old answers are withdrawn. Every decision is logged as ids only.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493008" y="4776215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639312" y="488594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59935" y="4913376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Policy simulator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39312" y="5279135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Admins see what a user can reach and why, without seeing any document content.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199" y="4776215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EAF4EC"/>
          </a:solidFill>
          <a:ln w="9525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318503" y="488594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6B3A"/>
                </a:solidFill>
                <a:latin typeface="Oswald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39127" y="4913376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Voice input (mic)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18503" y="5279135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Tap the mic, speak naturally: live transcript and soundwave, in the browser's language.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51392" y="4776215"/>
            <a:ext cx="2532887" cy="1213104"/>
          </a:xfrm>
          <a:prstGeom prst="roundRect">
            <a:avLst>
              <a:gd name="adj" fmla="val 3000"/>
            </a:avLst>
          </a:prstGeom>
          <a:solidFill>
            <a:srgbClr val="EAF4EC"/>
          </a:solidFill>
          <a:ln w="9525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997696" y="488594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6B3A"/>
                </a:solidFill>
                <a:latin typeface="Oswal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19" y="4913376"/>
            <a:ext cx="1847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1917"/>
                </a:solidFill>
                <a:latin typeface="Public Sans"/>
              </a:rPr>
              <a:t>Read aloud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97696" y="5279135"/>
            <a:ext cx="2258568" cy="646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504A"/>
                </a:solidFill>
                <a:latin typeface="Public Sans"/>
              </a:rPr>
              <a:t>Listen button speaks any answer in a natural voice, sentence by sentence, with pause and resume.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812767" y="330178"/>
            <a:ext cx="1428750" cy="406356"/>
          </a:xfrm>
          <a:prstGeom prst="rect">
            <a:avLst/>
          </a:prstGeom>
        </p:spPr>
      </p:pic>
      <p:pic>
        <p:nvPicPr>
          <p:cNvPr id="3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467948" y="304769"/>
            <a:ext cx="457178" cy="457178"/>
          </a:xfrm>
          <a:prstGeom prst="rect">
            <a:avLst/>
          </a:prstGeom>
        </p:spPr>
      </p:pic>
      <p:pic>
        <p:nvPicPr>
          <p:cNvPr id="4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10128304" y="393678"/>
            <a:ext cx="1250928" cy="27935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812767" y="939713"/>
            <a:ext cx="10566466" cy="2535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812767" y="1142836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04 · THE EXECUTION</a:t>
            </a:r>
            <a:endParaRPr lang="en-US" sz="1200" dirty="0"/>
          </a:p>
        </p:txBody>
      </p:sp>
      <p:sp>
        <p:nvSpPr>
          <p:cNvPr id="7" name="Text 2"/>
          <p:cNvSpPr/>
          <p:nvPr>
            <p:ph type="title"/>
          </p:nvPr>
        </p:nvSpPr>
        <p:spPr>
          <a:xfrm>
            <a:off x="812767" y="1406978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THE SOLUTION WILL WORK</a:t>
            </a:r>
            <a:endParaRPr lang="en-US" sz="3200" dirty="0"/>
          </a:p>
        </p:txBody>
      </p:sp>
      <p:sp>
        <p:nvSpPr>
          <p:cNvPr id="9" name="Shape 4"/>
          <p:cNvSpPr/>
          <p:nvPr/>
        </p:nvSpPr>
        <p:spPr>
          <a:xfrm>
            <a:off x="812767" y="2057400"/>
            <a:ext cx="2317805" cy="791710"/>
          </a:xfrm>
          <a:prstGeom prst="roundRect">
            <a:avLst>
              <a:gd name="adj" fmla="val 9625"/>
            </a:avLst>
          </a:prstGeom>
          <a:solidFill>
            <a:srgbClr val="17120F"/>
          </a:solidFill>
          <a:ln/>
        </p:spPr>
        <p:txBody>
          <a:bodyPr/>
          <a:p/>
        </p:txBody>
      </p:sp>
      <p:sp>
        <p:nvSpPr>
          <p:cNvPr id="10" name="Text 5"/>
          <p:cNvSpPr/>
          <p:nvPr/>
        </p:nvSpPr>
        <p:spPr>
          <a:xfrm>
            <a:off x="990534" y="2209754"/>
            <a:ext cx="2021139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STEP 1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990534" y="2473896"/>
            <a:ext cx="2021139" cy="248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Ingest and sanitize files</a:t>
            </a:r>
            <a:endParaRPr lang="en-US" sz="1300" dirty="0"/>
          </a:p>
        </p:txBody>
      </p:sp>
      <p:pic>
        <p:nvPicPr>
          <p:cNvPr id="12" name="Image 3" descr="connector">    </p:cNvPr>
          <p:cNvPicPr>
            <a:picLocks noChangeAspect="1"/>
          </p:cNvPicPr>
          <p:nvPr/>
        </p:nvPicPr>
        <p:blipFill>
          <a:blip r:embed="rId4"/>
          <a:srcRect l="0" r="0" t="-8" b="-8"/>
          <a:stretch/>
        </p:blipFill>
        <p:spPr>
          <a:xfrm>
            <a:off x="3206750" y="2389727"/>
            <a:ext cx="279356" cy="1270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562284" y="2057400"/>
            <a:ext cx="2317860" cy="791710"/>
          </a:xfrm>
          <a:prstGeom prst="roundRect">
            <a:avLst>
              <a:gd name="adj" fmla="val 9625"/>
            </a:avLst>
          </a:prstGeom>
          <a:solidFill>
            <a:srgbClr val="17120F"/>
          </a:solidFill>
          <a:ln/>
        </p:spPr>
        <p:txBody>
          <a:bodyPr/>
          <a:p/>
        </p:txBody>
      </p:sp>
      <p:sp>
        <p:nvSpPr>
          <p:cNvPr id="14" name="Text 8"/>
          <p:cNvSpPr/>
          <p:nvPr/>
        </p:nvSpPr>
        <p:spPr>
          <a:xfrm>
            <a:off x="3740050" y="2209754"/>
            <a:ext cx="202119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STEP 2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3740050" y="2473896"/>
            <a:ext cx="2021196" cy="248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SQL permission gate</a:t>
            </a:r>
            <a:endParaRPr lang="en-US" sz="1300" dirty="0"/>
          </a:p>
        </p:txBody>
      </p:sp>
      <p:pic>
        <p:nvPicPr>
          <p:cNvPr id="16" name="Image 4" descr="connector">    </p:cNvPr>
          <p:cNvPicPr>
            <a:picLocks noChangeAspect="1"/>
          </p:cNvPicPr>
          <p:nvPr/>
        </p:nvPicPr>
        <p:blipFill>
          <a:blip r:embed="rId5"/>
          <a:srcRect l="0" r="0" t="-8" b="-8"/>
          <a:stretch/>
        </p:blipFill>
        <p:spPr>
          <a:xfrm>
            <a:off x="5956322" y="2389727"/>
            <a:ext cx="279356" cy="12700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311855" y="2057400"/>
            <a:ext cx="2317805" cy="791710"/>
          </a:xfrm>
          <a:prstGeom prst="roundRect">
            <a:avLst>
              <a:gd name="adj" fmla="val 9625"/>
            </a:avLst>
          </a:prstGeom>
          <a:solidFill>
            <a:srgbClr val="17120F"/>
          </a:solidFill>
          <a:ln/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6489622" y="2209754"/>
            <a:ext cx="2021139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STEP 3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6489622" y="2473896"/>
            <a:ext cx="2140038" cy="248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Search or compute</a:t>
            </a:r>
            <a:endParaRPr lang="en-US" sz="1300" dirty="0"/>
          </a:p>
        </p:txBody>
      </p:sp>
      <p:pic>
        <p:nvPicPr>
          <p:cNvPr id="20" name="Image 5" descr="connector">    </p:cNvPr>
          <p:cNvPicPr>
            <a:picLocks noChangeAspect="1"/>
          </p:cNvPicPr>
          <p:nvPr/>
        </p:nvPicPr>
        <p:blipFill>
          <a:blip r:embed="rId6"/>
          <a:srcRect l="0" r="0" t="-8" b="-8"/>
          <a:stretch/>
        </p:blipFill>
        <p:spPr>
          <a:xfrm>
            <a:off x="8705838" y="2389727"/>
            <a:ext cx="279356" cy="1270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061372" y="2057400"/>
            <a:ext cx="2317860" cy="791710"/>
          </a:xfrm>
          <a:prstGeom prst="roundRect">
            <a:avLst>
              <a:gd name="adj" fmla="val 9625"/>
            </a:avLst>
          </a:prstGeom>
          <a:solidFill>
            <a:srgbClr val="17120F"/>
          </a:solidFill>
          <a:ln/>
        </p:spPr>
        <p:txBody>
          <a:bodyPr/>
          <a:p/>
        </p:txBody>
      </p:sp>
      <p:sp>
        <p:nvSpPr>
          <p:cNvPr id="22" name="Text 14"/>
          <p:cNvSpPr/>
          <p:nvPr/>
        </p:nvSpPr>
        <p:spPr>
          <a:xfrm>
            <a:off x="9239139" y="2209754"/>
            <a:ext cx="202119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STEP 4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9239139" y="2473896"/>
            <a:ext cx="2021196" cy="248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6F0E6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Verify, cite, speak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812767" y="6238270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504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8108983" y="6238270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813816" y="3050278"/>
            <a:ext cx="868680" cy="1097280"/>
          </a:xfrm>
          <a:prstGeom prst="roundRect">
            <a:avLst>
              <a:gd name="adj" fmla="val 8000"/>
            </a:avLst>
          </a:prstGeom>
          <a:solidFill>
            <a:srgbClr val="5A504A"/>
          </a:solidFill>
          <a:ln w="12700">
            <a:solidFill>
              <a:srgbClr val="5A5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9536" y="3050278"/>
            <a:ext cx="7772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INGEST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92224" y="3050278"/>
            <a:ext cx="1431035" cy="109728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856231" y="3095998"/>
            <a:ext cx="1303019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1917"/>
                </a:solidFill>
                <a:latin typeface="Public Sans"/>
              </a:rPr>
              <a:t>Upload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Size and type limits; admin sets grants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4427" y="3050278"/>
            <a:ext cx="1431035" cy="1097280"/>
          </a:xfrm>
          <a:prstGeom prst="roundRect">
            <a:avLst>
              <a:gd name="adj" fmla="val 6000"/>
            </a:avLst>
          </a:prstGeom>
          <a:solidFill>
            <a:srgbClr val="FBE9EB"/>
          </a:solidFill>
          <a:ln w="12700">
            <a:solidFill>
              <a:srgbClr val="F0C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488435" y="3095998"/>
            <a:ext cx="1303019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Public Sans"/>
              </a:rPr>
              <a:t>Magic-byte check</a:t>
            </a:r>
          </a:p>
          <a:p>
            <a:pPr algn="ctr"/>
            <a:r>
              <a:rPr sz="950" b="0">
                <a:solidFill>
                  <a:srgbClr val="8A1024"/>
                </a:solidFill>
                <a:latin typeface="Public Sans"/>
              </a:rPr>
              <a:t>%PDF, PNG, JPG, PK headers stop disguised files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41547" y="3598918"/>
            <a:ext cx="164592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056631" y="3050278"/>
            <a:ext cx="1431035" cy="109728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120640" y="3095998"/>
            <a:ext cx="1303019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1917"/>
                </a:solidFill>
                <a:latin typeface="Public Sans"/>
              </a:rPr>
              <a:t>Extract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PyMuPDF text and tables; Gemini Vision or RapidOCR for scans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873751" y="3598918"/>
            <a:ext cx="164593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88835" y="3050278"/>
            <a:ext cx="1431035" cy="1097280"/>
          </a:xfrm>
          <a:prstGeom prst="roundRect">
            <a:avLst>
              <a:gd name="adj" fmla="val 6000"/>
            </a:avLst>
          </a:prstGeom>
          <a:solidFill>
            <a:srgbClr val="FBE9EB"/>
          </a:solidFill>
          <a:ln w="12700">
            <a:solidFill>
              <a:srgbClr val="F0C2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52843" y="3095998"/>
            <a:ext cx="1303019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Public Sans"/>
              </a:rPr>
              <a:t>Sanitize</a:t>
            </a:r>
          </a:p>
          <a:p>
            <a:pPr algn="ctr"/>
            <a:r>
              <a:rPr sz="950" b="0">
                <a:solidFill>
                  <a:srgbClr val="8A1024"/>
                </a:solidFill>
                <a:latin typeface="Public Sans"/>
              </a:rPr>
              <a:t>Injection text removed, file flagged, audited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05955" y="3598918"/>
            <a:ext cx="164592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321039" y="3050278"/>
            <a:ext cx="1431035" cy="109728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385047" y="3095998"/>
            <a:ext cx="1303019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1917"/>
                </a:solidFill>
                <a:latin typeface="Public Sans"/>
              </a:rPr>
              <a:t>Chunk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900 chars prose; one row per chunk for sheets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138159" y="3598918"/>
            <a:ext cx="164592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953243" y="3050278"/>
            <a:ext cx="1431035" cy="1097280"/>
          </a:xfrm>
          <a:prstGeom prst="roundRect">
            <a:avLst>
              <a:gd name="adj" fmla="val 6000"/>
            </a:avLst>
          </a:prstGeom>
          <a:solidFill>
            <a:srgbClr val="EAF4EC"/>
          </a:solidFill>
          <a:ln w="12700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017251" y="3095998"/>
            <a:ext cx="1303019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F6B3A"/>
                </a:solidFill>
                <a:latin typeface="Public Sans"/>
              </a:rPr>
              <a:t>Embed + index</a:t>
            </a:r>
          </a:p>
          <a:p>
            <a:pPr algn="ctr"/>
            <a:r>
              <a:rPr sz="950" b="0">
                <a:solidFill>
                  <a:srgbClr val="1F6B3A"/>
                </a:solidFill>
                <a:latin typeface="Public Sans"/>
              </a:rPr>
              <a:t>768-d vectors, BM25 / tsvector, row rules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770363" y="3598918"/>
            <a:ext cx="164592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13816" y="4330438"/>
            <a:ext cx="868680" cy="1658881"/>
          </a:xfrm>
          <a:prstGeom prst="roundRect">
            <a:avLst>
              <a:gd name="adj" fmla="val 8000"/>
            </a:avLst>
          </a:prstGeom>
          <a:solidFill>
            <a:srgbClr val="C8102E"/>
          </a:solidFill>
          <a:ln w="1270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59536" y="4330438"/>
            <a:ext cx="777240" cy="16588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ASK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792224" y="4330438"/>
            <a:ext cx="1197863" cy="1658881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856231" y="4376158"/>
            <a:ext cx="1069848" cy="15674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1917"/>
                </a:solidFill>
                <a:latin typeface="Public Sans"/>
              </a:rPr>
              <a:t>Question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Typed or spoken via the mic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91256" y="4330438"/>
            <a:ext cx="1197863" cy="1658881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3255263" y="4376158"/>
            <a:ext cx="1069848" cy="15674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1917"/>
                </a:solidFill>
                <a:latin typeface="Public Sans"/>
              </a:rPr>
              <a:t>Identity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Signed JWT only; body fields ignored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008375" y="5159879"/>
            <a:ext cx="164593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4590288" y="4330438"/>
            <a:ext cx="1197863" cy="1658881"/>
          </a:xfrm>
          <a:prstGeom prst="roundRect">
            <a:avLst>
              <a:gd name="adj" fmla="val 6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654296" y="4376158"/>
            <a:ext cx="1069848" cy="15674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ublic Sans"/>
              </a:rPr>
              <a:t>SQL gate</a:t>
            </a:r>
          </a:p>
          <a:p>
            <a:pPr algn="ctr"/>
            <a:r>
              <a:rPr sz="950" b="0">
                <a:solidFill>
                  <a:srgbClr val="E2D8C8"/>
                </a:solidFill>
                <a:latin typeface="Public Sans"/>
              </a:rPr>
              <a:t>Document rule AND row rule, inside the query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407407" y="5159879"/>
            <a:ext cx="164593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5989320" y="4330438"/>
            <a:ext cx="1197863" cy="792864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044183" y="4357870"/>
            <a:ext cx="1088136" cy="73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1917"/>
                </a:solidFill>
                <a:latin typeface="Public Sans"/>
              </a:rPr>
              <a:t>Track A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Exact math in code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89320" y="5196455"/>
            <a:ext cx="1197863" cy="792864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044183" y="5223887"/>
            <a:ext cx="1088136" cy="73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1E1917"/>
                </a:solidFill>
                <a:latin typeface="Public Sans"/>
              </a:rPr>
              <a:t>Track B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Hybrid search + RRF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806440" y="5159879"/>
            <a:ext cx="164592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7388351" y="4330438"/>
            <a:ext cx="1197863" cy="1658881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452359" y="4376158"/>
            <a:ext cx="1069848" cy="15674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1917"/>
                </a:solidFill>
                <a:latin typeface="Public Sans"/>
              </a:rPr>
              <a:t>Grounded answer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Gemini JSON; points cite evidence ids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205471" y="5159879"/>
            <a:ext cx="164592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8787384" y="4330438"/>
            <a:ext cx="1197863" cy="1658881"/>
          </a:xfrm>
          <a:prstGeom prst="roundRect">
            <a:avLst>
              <a:gd name="adj" fmla="val 6000"/>
            </a:avLst>
          </a:prstGeom>
          <a:solidFill>
            <a:srgbClr val="EAF4EC"/>
          </a:solidFill>
          <a:ln w="12700">
            <a:solidFill>
              <a:srgbClr val="BFD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851392" y="4376158"/>
            <a:ext cx="1069848" cy="15674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F6B3A"/>
                </a:solidFill>
                <a:latin typeface="Public Sans"/>
              </a:rPr>
              <a:t>Claim check</a:t>
            </a:r>
          </a:p>
          <a:p>
            <a:pPr algn="ctr"/>
            <a:r>
              <a:rPr sz="950" b="0">
                <a:solidFill>
                  <a:srgbClr val="1F6B3A"/>
                </a:solidFill>
                <a:latin typeface="Public Sans"/>
              </a:rPr>
              <a:t>Numbers + ≥50% words must match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604503" y="5159879"/>
            <a:ext cx="164593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10186416" y="4330438"/>
            <a:ext cx="1197863" cy="1658881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0250424" y="4376158"/>
            <a:ext cx="1069848" cy="15674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E1917"/>
                </a:solidFill>
                <a:latin typeface="Public Sans"/>
              </a:rPr>
              <a:t>Answer</a:t>
            </a:r>
          </a:p>
          <a:p>
            <a:pPr algn="ctr"/>
            <a:r>
              <a:rPr sz="950" b="0">
                <a:solidFill>
                  <a:srgbClr val="5A504A"/>
                </a:solidFill>
                <a:latin typeface="Public Sans"/>
              </a:rPr>
              <a:t>Highlight, Listen button, audit log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0003536" y="5159879"/>
            <a:ext cx="164592" cy="0"/>
          </a:xfrm>
          <a:prstGeom prst="line">
            <a:avLst/>
          </a:prstGeom>
          <a:ln w="22225">
            <a:solidFill>
              <a:srgbClr val="5A5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812767" y="330178"/>
            <a:ext cx="1428750" cy="406356"/>
          </a:xfrm>
          <a:prstGeom prst="rect">
            <a:avLst/>
          </a:prstGeom>
        </p:spPr>
      </p:pic>
      <p:pic>
        <p:nvPicPr>
          <p:cNvPr id="3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467948" y="304769"/>
            <a:ext cx="457178" cy="457178"/>
          </a:xfrm>
          <a:prstGeom prst="rect">
            <a:avLst/>
          </a:prstGeom>
        </p:spPr>
      </p:pic>
      <p:pic>
        <p:nvPicPr>
          <p:cNvPr id="4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10128304" y="393678"/>
            <a:ext cx="1250928" cy="27935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812767" y="939713"/>
            <a:ext cx="10566466" cy="2535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812767" y="1142836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05 · THE GEAR</a:t>
            </a:r>
            <a:endParaRPr lang="en-US" sz="1200" dirty="0"/>
          </a:p>
        </p:txBody>
      </p:sp>
      <p:sp>
        <p:nvSpPr>
          <p:cNvPr id="7" name="Text 2"/>
          <p:cNvSpPr/>
          <p:nvPr>
            <p:ph type="title"/>
          </p:nvPr>
        </p:nvSpPr>
        <p:spPr>
          <a:xfrm>
            <a:off x="812767" y="1406978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TECHNOLOGY / TECH STACK</a:t>
            </a:r>
            <a:endParaRPr lang="en-US" sz="3200" dirty="0"/>
          </a:p>
        </p:txBody>
      </p:sp>
      <p:sp>
        <p:nvSpPr>
          <p:cNvPr id="9" name="Shape 4"/>
          <p:cNvSpPr/>
          <p:nvPr/>
        </p:nvSpPr>
        <p:spPr>
          <a:xfrm>
            <a:off x="812767" y="2316206"/>
            <a:ext cx="10566466" cy="2701175"/>
          </a:xfrm>
          <a:prstGeom prst="rect">
            <a:avLst/>
          </a:prstGeom>
          <a:solidFill>
            <a:srgbClr val="FFFDF8"/>
          </a:solidFill>
          <a:ln/>
        </p:spPr>
        <p:txBody>
          <a:bodyPr/>
          <a:p/>
        </p:txBody>
      </p:sp>
      <p:sp>
        <p:nvSpPr>
          <p:cNvPr id="10" name="Shape 5"/>
          <p:cNvSpPr/>
          <p:nvPr/>
        </p:nvSpPr>
        <p:spPr>
          <a:xfrm>
            <a:off x="11376058" y="2316206"/>
            <a:ext cx="0" cy="2701175"/>
          </a:xfrm>
          <a:prstGeom prst="line">
            <a:avLst/>
          </a:prstGeom>
          <a:noFill/>
          <a:ln w="6350">
            <a:solidFill>
              <a:srgbClr val="E2D8C8"/>
            </a:solidFill>
            <a:prstDash val="solid"/>
          </a:ln>
        </p:spPr>
        <p:txBody>
          <a:bodyPr/>
          <a:p/>
        </p:txBody>
      </p:sp>
      <p:sp>
        <p:nvSpPr>
          <p:cNvPr id="11" name="Shape 6"/>
          <p:cNvSpPr/>
          <p:nvPr/>
        </p:nvSpPr>
        <p:spPr>
          <a:xfrm>
            <a:off x="812767" y="5014206"/>
            <a:ext cx="10566466" cy="0"/>
          </a:xfrm>
          <a:prstGeom prst="line">
            <a:avLst/>
          </a:prstGeom>
          <a:noFill/>
          <a:ln w="6350">
            <a:solidFill>
              <a:srgbClr val="E2D8C8"/>
            </a:solidFill>
            <a:prstDash val="solid"/>
          </a:ln>
        </p:spPr>
        <p:txBody>
          <a:bodyPr/>
          <a:p/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3350" y="2057400"/>
          <a:ext cx="10552355" cy="36576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33443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6F0E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Layer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6F0E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Technology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6F0E6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Why we chose it</a:t>
                      </a:r>
                      <a:endParaRPr lang="en-US" sz="14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20F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Frontend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React 18, TypeScript, Vite, Tailwind, Framer Motion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Typed UI, fast builds, smooth demo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612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Backend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Python, FastAPI, SQLAlchemy, PyJWT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Async API; identity only from signed tokens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Database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PostgreSQL + pgvector + tsvector; SQLite demo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Vectors and access rule in one SQL query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AI models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Gemini (answers, 768-d embeddings, vision)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Schema-constrained JSON; local mode offline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Documents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PyMuPDF, openpyxl, RapidOCR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Text, tables, charts, scans and sheets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Voice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Web Speech API (SpeechRecognition, speechSynthesis)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Mic input and read-aloud with no extra server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Retrieval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BM25 + vector search, Reciprocal Rank Fusion (k = 60)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Concepts and exact IDs both rank well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Hosting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Render (API + static site), Docker Compose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One-file deploy via render.yaml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365760"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1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Testing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pytest: 97 tests, 18 attack tests; live suite in UI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indent="0" marL="0">
                        <a:lnSpc>
                          <a:spcPts val="1625"/>
                        </a:lnSpc>
                        <a:buNone/>
                      </a:pPr>
                      <a:r>
                        <a:rPr lang="en-US" sz="1300" dirty="0" b="0">
                          <a:solidFill>
                            <a:srgbClr val="1E1917"/>
                          </a:solidFill>
                          <a:latin typeface="Public Sans" pitchFamily="34" charset="0"/>
                          <a:ea typeface="Public Sans" pitchFamily="34" charset="-122"/>
                          <a:cs typeface="Public Sans" pitchFamily="34" charset="-120"/>
                        </a:rPr>
                        <a:t>Proof the rules hold on every change</a:t>
                      </a:r>
                      <a:endParaRPr lang="en-US" sz="1300" dirty="0">
                        <a:latin typeface="Public Sans" charset="0"/>
                        <a:ea typeface="Public Sans" charset="0"/>
                        <a:cs typeface="Public Sans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812767" y="6238270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504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8108983" y="6238270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812767" y="330178"/>
            <a:ext cx="1428750" cy="406356"/>
          </a:xfrm>
          <a:prstGeom prst="rect">
            <a:avLst/>
          </a:prstGeom>
        </p:spPr>
      </p:pic>
      <p:pic>
        <p:nvPicPr>
          <p:cNvPr id="3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467948" y="304766"/>
            <a:ext cx="457178" cy="457178"/>
          </a:xfrm>
          <a:prstGeom prst="rect">
            <a:avLst/>
          </a:prstGeom>
        </p:spPr>
      </p:pic>
      <p:pic>
        <p:nvPicPr>
          <p:cNvPr id="4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10128304" y="393678"/>
            <a:ext cx="1250928" cy="27935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812767" y="939713"/>
            <a:ext cx="10566466" cy="2535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812767" y="1142836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06 · INSIDE THE MINT</a:t>
            </a:r>
            <a:endParaRPr lang="en-US" sz="1200" dirty="0"/>
          </a:p>
        </p:txBody>
      </p:sp>
      <p:sp>
        <p:nvSpPr>
          <p:cNvPr id="7" name="Text 2"/>
          <p:cNvSpPr/>
          <p:nvPr>
            <p:ph type="title"/>
          </p:nvPr>
        </p:nvSpPr>
        <p:spPr>
          <a:xfrm>
            <a:off x="812767" y="1406978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CURRENT PROGRESS / WORK DONE</a:t>
            </a:r>
            <a:endParaRPr lang="en-US" sz="3200" dirty="0"/>
          </a:p>
        </p:txBody>
      </p:sp>
      <p:sp>
        <p:nvSpPr>
          <p:cNvPr id="18" name="Text 13"/>
          <p:cNvSpPr/>
          <p:nvPr/>
        </p:nvSpPr>
        <p:spPr>
          <a:xfrm>
            <a:off x="812767" y="6238270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504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108983" y="6238270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  <p:sp>
        <p:nvSpPr>
          <p:cNvPr id="20" name="Rounded Rectangle 19"/>
          <p:cNvSpPr/>
          <p:nvPr/>
        </p:nvSpPr>
        <p:spPr>
          <a:xfrm>
            <a:off x="813816" y="2057400"/>
            <a:ext cx="3246120" cy="393192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14984" y="2221992"/>
            <a:ext cx="2880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" y="2624328"/>
            <a:ext cx="2834639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SQL access gate, row rules, 2-tenant isolation</a:t>
            </a:r>
          </a:p>
          <a:p>
            <a:pPr marL="182880" indent="-182880">
              <a:spcAft>
                <a:spcPts val="6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Ingestion: PDF, scans, photos, DOCX, sheets</a:t>
            </a:r>
          </a:p>
          <a:p>
            <a:pPr marL="182880" indent="-182880">
              <a:spcAft>
                <a:spcPts val="6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Hybrid search, RRF and exact analytics</a:t>
            </a:r>
          </a:p>
          <a:p>
            <a:pPr marL="182880" indent="-182880">
              <a:spcAft>
                <a:spcPts val="6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Claim checks + highlighted citations</a:t>
            </a:r>
          </a:p>
          <a:p>
            <a:pPr marL="182880" indent="-182880">
              <a:spcAft>
                <a:spcPts val="6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History scrubbing, audit log, simulator</a:t>
            </a:r>
          </a:p>
          <a:p>
            <a:pPr marL="182880" indent="-182880">
              <a:spcAft>
                <a:spcPts val="6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Voice input and read-aloud in chat</a:t>
            </a:r>
          </a:p>
          <a:p>
            <a:pPr marL="182880" indent="-182880">
              <a:spcAft>
                <a:spcPts val="6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97 / 97 tests; live attack suite 28 / 28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2816" y="205740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443983" y="2221992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Oswald"/>
              </a:rPr>
              <a:t>IN PROGRESS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1416" y="2624328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Gemini tuning within free-tier rate limits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Cleaner table layout in answers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>
                <a:solidFill>
                  <a:srgbClr val="1E1917"/>
                </a:solidFill>
                <a:latin typeface="Public Sans"/>
              </a:rPr>
              <a:t>Catching rephrased injections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2816" y="4023360"/>
            <a:ext cx="2926080" cy="1965959"/>
          </a:xfrm>
          <a:prstGeom prst="roundRect">
            <a:avLst>
              <a:gd name="adj" fmla="val 3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43983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06A7E"/>
                </a:solidFill>
                <a:latin typeface="Public Sans"/>
              </a:rPr>
              <a:t>PROOF, MEASURED TODAY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3" y="4480560"/>
            <a:ext cx="960120" cy="472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swald"/>
              </a:rPr>
              <a:t>97/97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1536" y="4480560"/>
            <a:ext cx="1554480" cy="472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6F0E6"/>
                </a:solidFill>
                <a:latin typeface="Public Sans"/>
              </a:rPr>
              <a:t>backend tests pass in 16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4953000"/>
            <a:ext cx="960120" cy="472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swald"/>
              </a:rPr>
              <a:t>28/28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1536" y="4953000"/>
            <a:ext cx="1554480" cy="472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6F0E6"/>
                </a:solidFill>
                <a:latin typeface="Public Sans"/>
              </a:rPr>
              <a:t>live attack tests in the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5425440"/>
            <a:ext cx="960120" cy="472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swald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1536" y="5425440"/>
            <a:ext cx="1554480" cy="4724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6F0E6"/>
                </a:solidFill>
                <a:latin typeface="Public Sans"/>
              </a:rPr>
              <a:t>restricted chunks sent to the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51775" y="2057400"/>
            <a:ext cx="4032503" cy="3931920"/>
          </a:xfrm>
          <a:prstGeom prst="roundRect">
            <a:avLst>
              <a:gd name="adj" fmla="val 3000"/>
            </a:avLst>
          </a:prstGeom>
          <a:solidFill>
            <a:srgbClr val="FFFDF8"/>
          </a:solidFill>
          <a:ln w="9525">
            <a:solidFill>
              <a:srgbClr val="E2D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img_esh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446195"/>
            <a:ext cx="3758183" cy="1708764"/>
          </a:xfrm>
          <a:prstGeom prst="rect">
            <a:avLst/>
          </a:prstGeom>
          <a:ln w="9525">
            <a:solidFill>
              <a:srgbClr val="E2D8C8"/>
            </a:solidFill>
          </a:ln>
        </p:spPr>
      </p:pic>
      <p:sp>
        <p:nvSpPr>
          <p:cNvPr id="36" name="TextBox 35"/>
          <p:cNvSpPr txBox="1"/>
          <p:nvPr/>
        </p:nvSpPr>
        <p:spPr>
          <a:xfrm>
            <a:off x="7443215" y="4191536"/>
            <a:ext cx="3849623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5A504A"/>
                </a:solidFill>
                <a:latin typeface="Public Sans"/>
              </a:rPr>
              <a:t>Exact total with its SQL plan and a Listen button</a:t>
            </a:r>
          </a:p>
        </p:txBody>
      </p:sp>
      <p:pic>
        <p:nvPicPr>
          <p:cNvPr id="37" name="Picture 36" descr="img_mi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8936" y="4799788"/>
            <a:ext cx="3758183" cy="544704"/>
          </a:xfrm>
          <a:prstGeom prst="rect">
            <a:avLst/>
          </a:prstGeom>
          <a:ln w="9525">
            <a:solidFill>
              <a:srgbClr val="E2D8C8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7443215" y="5381068"/>
            <a:ext cx="3849623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5A504A"/>
                </a:solidFill>
                <a:latin typeface="Public Sans"/>
              </a:rPr>
              <a:t>Voice input: live listening with soundwave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812767" y="330181"/>
            <a:ext cx="1428750" cy="406356"/>
          </a:xfrm>
          <a:prstGeom prst="rect">
            <a:avLst/>
          </a:prstGeom>
        </p:spPr>
      </p:pic>
      <p:pic>
        <p:nvPicPr>
          <p:cNvPr id="3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467948" y="304769"/>
            <a:ext cx="457178" cy="457178"/>
          </a:xfrm>
          <a:prstGeom prst="rect">
            <a:avLst/>
          </a:prstGeom>
        </p:spPr>
      </p:pic>
      <p:pic>
        <p:nvPicPr>
          <p:cNvPr id="4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10128304" y="393681"/>
            <a:ext cx="1250928" cy="27935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812767" y="939713"/>
            <a:ext cx="10566466" cy="25356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812767" y="1142839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07 · THE GETAWAY</a:t>
            </a:r>
            <a:endParaRPr lang="en-US" sz="1200" dirty="0"/>
          </a:p>
        </p:txBody>
      </p:sp>
      <p:sp>
        <p:nvSpPr>
          <p:cNvPr id="7" name="Text 2"/>
          <p:cNvSpPr/>
          <p:nvPr>
            <p:ph type="title"/>
          </p:nvPr>
        </p:nvSpPr>
        <p:spPr>
          <a:xfrm>
            <a:off x="812767" y="1406978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FUTURE PLAN / NEXT STEPS</a:t>
            </a:r>
            <a:endParaRPr lang="en-US" sz="3200" dirty="0"/>
          </a:p>
        </p:txBody>
      </p:sp>
      <p:sp>
        <p:nvSpPr>
          <p:cNvPr id="9" name="Shape 4"/>
          <p:cNvSpPr/>
          <p:nvPr/>
        </p:nvSpPr>
        <p:spPr>
          <a:xfrm>
            <a:off x="815942" y="2057400"/>
            <a:ext cx="3380317" cy="2697480"/>
          </a:xfrm>
          <a:prstGeom prst="roundRect">
            <a:avLst>
              <a:gd name="adj" fmla="val 2160"/>
            </a:avLst>
          </a:prstGeom>
          <a:solidFill>
            <a:srgbClr val="FFFDF8"/>
          </a:solidFill>
          <a:ln w="6350">
            <a:solidFill>
              <a:srgbClr val="E2D8C8"/>
            </a:solidFill>
            <a:prstDash val="solid"/>
          </a:ln>
        </p:spPr>
        <p:txBody>
          <a:bodyPr/>
          <a:p/>
        </p:txBody>
      </p:sp>
      <p:sp>
        <p:nvSpPr>
          <p:cNvPr id="10" name="Text 5"/>
          <p:cNvSpPr/>
          <p:nvPr/>
        </p:nvSpPr>
        <p:spPr>
          <a:xfrm>
            <a:off x="1044884" y="2260929"/>
            <a:ext cx="3010106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PHASE 1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1044884" y="2575892"/>
            <a:ext cx="3010106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DURING THE HACKATHON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129466" y="2951764"/>
            <a:ext cx="29179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Deploy live on Render with Gemini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Fix answer table layout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 the attack suite live on stage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Voice demo end to end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4405786" y="2057400"/>
            <a:ext cx="3380372" cy="2697480"/>
          </a:xfrm>
          <a:prstGeom prst="roundRect">
            <a:avLst>
              <a:gd name="adj" fmla="val 2160"/>
            </a:avLst>
          </a:prstGeom>
          <a:solidFill>
            <a:srgbClr val="FFFDF8"/>
          </a:solidFill>
          <a:ln w="6350">
            <a:solidFill>
              <a:srgbClr val="E2D8C8"/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4634728" y="2260929"/>
            <a:ext cx="3010163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PHASE 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634728" y="2575892"/>
            <a:ext cx="3010163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RIGHT AFTER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4719310" y="2951764"/>
            <a:ext cx="291796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Okta / Entra ID sign-in with SCIM role sync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Reranker after RRF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Malware scanning of uploads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Shared rate limits (Redis)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7995686" y="2057400"/>
            <a:ext cx="3380372" cy="2697480"/>
          </a:xfrm>
          <a:prstGeom prst="roundRect">
            <a:avLst>
              <a:gd name="adj" fmla="val 2160"/>
            </a:avLst>
          </a:prstGeom>
          <a:solidFill>
            <a:srgbClr val="FFFDF8"/>
          </a:solidFill>
          <a:ln w="6350">
            <a:solidFill>
              <a:srgbClr val="E2D8C8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8224627" y="2260929"/>
            <a:ext cx="3010163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PHASE 3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224627" y="2575892"/>
            <a:ext cx="3010163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191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LONG-TERM VISION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309209" y="2951764"/>
            <a:ext cx="291796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Audio and meeting transcripts with speaker-level access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Pilot with one college or company department</a:t>
            </a:r>
            <a:endParaRPr lang="en-US" sz="1400" dirty="0"/>
          </a:p>
          <a:p>
            <a:pPr algn="l" marL="169418" indent="-169418">
              <a:lnSpc>
                <a:spcPts val="1750"/>
              </a:lnSpc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1917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Per-seat SaaS plus a self-hosted option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12767" y="6238273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504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108983" y="6238273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8102E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813816" y="4937760"/>
            <a:ext cx="10570463" cy="1051559"/>
          </a:xfrm>
          <a:prstGeom prst="roundRect">
            <a:avLst>
              <a:gd name="adj" fmla="val 5000"/>
            </a:avLst>
          </a:prstGeom>
          <a:solidFill>
            <a:srgbClr val="1E1917"/>
          </a:solidFill>
          <a:ln w="12700">
            <a:solidFill>
              <a:srgbClr val="1E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88136" y="4937760"/>
            <a:ext cx="1828800" cy="10515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04A62"/>
                </a:solidFill>
                <a:latin typeface="Oswald"/>
              </a:rPr>
              <a:t>IMPACT WE
AIM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8376" y="4937760"/>
            <a:ext cx="2471927" cy="10515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6F0E6"/>
                </a:solidFill>
                <a:latin typeface="Public Sans"/>
              </a:rPr>
              <a:t>Teams adopt AI search without new data-leak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08903" y="4937760"/>
            <a:ext cx="2471927" cy="10515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6F0E6"/>
                </a:solidFill>
                <a:latin typeface="Public Sans"/>
              </a:rPr>
              <a:t>Auditors can prove who saw what, and when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9431" y="4937760"/>
            <a:ext cx="2471927" cy="10515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6F0E6"/>
                </a:solidFill>
                <a:latin typeface="Public Sans"/>
              </a:rPr>
              <a:t>Runs fully offline for air-gapped organisations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2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56" cy="6857999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Shape 1"/>
          <p:cNvSpPr/>
          <p:nvPr/>
        </p:nvSpPr>
        <p:spPr>
          <a:xfrm>
            <a:off x="812767" y="304769"/>
            <a:ext cx="10566466" cy="609534"/>
          </a:xfrm>
          <a:prstGeom prst="roundRect">
            <a:avLst>
              <a:gd name="adj" fmla="val 12501"/>
            </a:avLst>
          </a:prstGeom>
          <a:solidFill>
            <a:srgbClr val="F6F0E6"/>
          </a:solidFill>
          <a:ln/>
        </p:spPr>
      </p:sp>
      <p:pic>
        <p:nvPicPr>
          <p:cNvPr id="4" name="Image 0" descr="Atmiya University logo">    </p:cNvPr>
          <p:cNvPicPr>
            <a:picLocks noChangeAspect="1"/>
          </p:cNvPicPr>
          <p:nvPr/>
        </p:nvPicPr>
        <p:blipFill>
          <a:blip r:embed="rId1"/>
          <a:srcRect l="0" r="0" t="-43" b="-43"/>
          <a:stretch/>
        </p:blipFill>
        <p:spPr>
          <a:xfrm>
            <a:off x="1015945" y="406357"/>
            <a:ext cx="1428750" cy="406356"/>
          </a:xfrm>
          <a:prstGeom prst="rect">
            <a:avLst/>
          </a:prstGeom>
        </p:spPr>
      </p:pic>
      <p:pic>
        <p:nvPicPr>
          <p:cNvPr id="5" name="Image 1" descr="Centre for Research, Innovation and Translation logo">    </p:cNvPr>
          <p:cNvPicPr>
            <a:picLocks noChangeAspect="1"/>
          </p:cNvPicPr>
          <p:nvPr/>
        </p:nvPicPr>
        <p:blipFill>
          <a:blip r:embed="rId2"/>
          <a:srcRect l="-420" r="-420" t="0" b="0"/>
          <a:stretch/>
        </p:blipFill>
        <p:spPr>
          <a:xfrm>
            <a:off x="9264771" y="380950"/>
            <a:ext cx="457178" cy="457178"/>
          </a:xfrm>
          <a:prstGeom prst="rect">
            <a:avLst/>
          </a:prstGeom>
        </p:spPr>
      </p:pic>
      <p:pic>
        <p:nvPicPr>
          <p:cNvPr id="6" name="Image 2" descr="ADSC logo">    </p:cNvPr>
          <p:cNvPicPr>
            <a:picLocks noChangeAspect="1"/>
          </p:cNvPicPr>
          <p:nvPr/>
        </p:nvPicPr>
        <p:blipFill>
          <a:blip r:embed="rId3"/>
          <a:srcRect l="0" r="0" t="-111" b="-111"/>
          <a:stretch/>
        </p:blipFill>
        <p:spPr>
          <a:xfrm>
            <a:off x="9925127" y="469857"/>
            <a:ext cx="1250928" cy="27935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12767" y="1092070"/>
            <a:ext cx="1088346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08 · THE VAULT</a:t>
            </a:r>
            <a:endParaRPr lang="en-US" sz="1200" dirty="0"/>
          </a:p>
        </p:txBody>
      </p:sp>
      <p:sp>
        <p:nvSpPr>
          <p:cNvPr id="8" name="Text 3"/>
          <p:cNvSpPr/>
          <p:nvPr>
            <p:ph type="title"/>
          </p:nvPr>
        </p:nvSpPr>
        <p:spPr>
          <a:xfrm>
            <a:off x="812767" y="1356215"/>
            <a:ext cx="10883460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i="0" dirty="0">
                <a:solidFill>
                  <a:srgbClr val="F6F0E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GITHUB REPOSITORY LINK</a:t>
            </a:r>
            <a:endParaRPr lang="en-US" sz="3200" dirty="0"/>
          </a:p>
        </p:txBody>
      </p:sp>
      <p:sp>
        <p:nvSpPr>
          <p:cNvPr id="10" name="Shape 5"/>
          <p:cNvSpPr/>
          <p:nvPr/>
        </p:nvSpPr>
        <p:spPr>
          <a:xfrm>
            <a:off x="819117" y="2271793"/>
            <a:ext cx="10553766" cy="856787"/>
          </a:xfrm>
          <a:prstGeom prst="roundRect">
            <a:avLst>
              <a:gd name="adj" fmla="val 8153"/>
            </a:avLst>
          </a:prstGeom>
          <a:noFill/>
          <a:ln w="12700">
            <a:solidFill>
              <a:srgbClr val="C8102E"/>
            </a:solidFill>
            <a:prstDash val="solid"/>
          </a:ln>
        </p:spPr>
      </p:sp>
      <p:pic>
        <p:nvPicPr>
          <p:cNvPr id="11" name="Image 3" descr="Lin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077350" y="2522364"/>
            <a:ext cx="355589" cy="355589"/>
          </a:xfrm>
          <a:prstGeom prst="rect">
            <a:avLst/>
          </a:prstGeom>
        </p:spPr>
      </p:pic>
      <p:sp>
        <p:nvSpPr>
          <p:cNvPr id="12" name="Text 6">
            <a:hlinkClick r:id="rId7"/>
          </p:cNvPr>
          <p:cNvSpPr/>
          <p:nvPr/>
        </p:nvSpPr>
        <p:spPr>
          <a:xfrm>
            <a:off x="1610706" y="2504616"/>
            <a:ext cx="9789061" cy="416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6F0E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https://github.com/Navadeep44/aegisrag-2</a:t>
            </a:r>
            <a:endParaRPr lang="en-US" sz="2200" dirty="0"/>
          </a:p>
        </p:txBody>
      </p:sp>
      <p:sp>
        <p:nvSpPr>
          <p:cNvPr id="13" name="Shape 7"/>
          <p:cNvSpPr/>
          <p:nvPr/>
        </p:nvSpPr>
        <p:spPr>
          <a:xfrm>
            <a:off x="815942" y="3315872"/>
            <a:ext cx="2520972" cy="2522956"/>
          </a:xfrm>
          <a:prstGeom prst="roundRect">
            <a:avLst>
              <a:gd name="adj" fmla="val 289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994062" y="3468582"/>
            <a:ext cx="2229675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PUBLIC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994062" y="3732721"/>
            <a:ext cx="2229675" cy="471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9CF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Repository visibility is set to public.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495620" y="3315872"/>
            <a:ext cx="2521027" cy="2522956"/>
          </a:xfrm>
          <a:prstGeom prst="roundRect">
            <a:avLst>
              <a:gd name="adj" fmla="val 289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3673739" y="3468582"/>
            <a:ext cx="2229731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README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3673739" y="3732721"/>
            <a:ext cx="2229731" cy="6939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9CF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Covers setup, features, demo accounts and tests.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175353" y="3315872"/>
            <a:ext cx="2520972" cy="2522956"/>
          </a:xfrm>
          <a:prstGeom prst="roundRect">
            <a:avLst>
              <a:gd name="adj" fmla="val 289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353472" y="3468582"/>
            <a:ext cx="2229675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COMMITS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353472" y="3732721"/>
            <a:ext cx="2229675" cy="471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9CF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Regular commits from both team members.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855030" y="3315872"/>
            <a:ext cx="2521027" cy="2522956"/>
          </a:xfrm>
          <a:prstGeom prst="roundRect">
            <a:avLst>
              <a:gd name="adj" fmla="val 2897"/>
            </a:avLst>
          </a:prstGeom>
          <a:noFill/>
          <a:ln w="6350">
            <a:solidFill>
              <a:srgbClr val="4A3F38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033150" y="3468582"/>
            <a:ext cx="2229731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DEMO (OPTIONAL)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9033150" y="3732721"/>
            <a:ext cx="22311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9CF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Run locally in two commands (see README); Render config included.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2767" y="6238273"/>
            <a:ext cx="58864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D9CFC2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Code Carnival 3.0 · ADSC, Atmiya University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8108983" y="6238273"/>
            <a:ext cx="3270250" cy="238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F435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BOOR BOTS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 Carnival 3.0 Idea Submission Template">
  <a:themeElements>
    <a:clrScheme name="Code Carnival 3.0 Idea Submission Template">
      <a:dk1>
        <a:srgbClr val="1E1917"/>
      </a:dk1>
      <a:lt1>
        <a:srgbClr val="F6F0E6"/>
      </a:lt1>
      <a:dk2>
        <a:srgbClr val="544F4B"/>
      </a:dk2>
      <a:lt2>
        <a:srgbClr val="E0DBD1"/>
      </a:lt2>
      <a:accent1>
        <a:srgbClr val="C8102E"/>
      </a:accent1>
      <a:accent2>
        <a:srgbClr val="EF4350"/>
      </a:accent2>
      <a:accent3>
        <a:srgbClr val="5A504A"/>
      </a:accent3>
      <a:accent4>
        <a:srgbClr val="D9CFC2"/>
      </a:accent4>
      <a:accent5>
        <a:srgbClr val="9AA0A6"/>
      </a:accent5>
      <a:accent6>
        <a:srgbClr val="746F6A"/>
      </a:accent6>
      <a:hlink>
        <a:srgbClr val="0563C1"/>
      </a:hlink>
      <a:folHlink>
        <a:srgbClr val="954F72"/>
      </a:folHlink>
    </a:clrScheme>
    <a:fontScheme name="Code Carnival 3.0 Idea Submission Template">
      <a:majorFont>
        <a:latin typeface="Oswa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ublic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Carnival 3.0 Idea Submission Template</dc:title>
  <dc:subject/>
  <dc:creator/>
  <cp:lastModifiedBy/>
  <cp:revision>1</cp:revision>
  <dcterms:created xsi:type="dcterms:W3CDTF">2026-10-08T15:43:46Z</dcterms:created>
  <dcterms:modified xsi:type="dcterms:W3CDTF">2026-10-08T15:43:46Z</dcterms:modified>
</cp:coreProperties>
</file>