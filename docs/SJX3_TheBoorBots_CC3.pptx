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Team: Navadeep Gandloju (leader), Adithya Mamidala.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67" y="1406978"/>
            <a:ext cx="10566466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67" y="2179098"/>
            <a:ext cx="10566433" cy="386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67" y="1406978"/>
            <a:ext cx="10566466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67" y="2179098"/>
            <a:ext cx="10566433" cy="386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Relationship Id="rId6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Relationship Id="rId7" Type="http://schemas.openxmlformats.org/officeDocument/2006/relationships/hyperlink" Target="https://github.com/Navadeep44/aegisrag-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356" cy="6857999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812767" y="508000"/>
            <a:ext cx="10566466" cy="863589"/>
          </a:xfrm>
          <a:prstGeom prst="roundRect">
            <a:avLst>
              <a:gd name="adj" fmla="val 11765"/>
            </a:avLst>
          </a:prstGeom>
          <a:solidFill>
            <a:srgbClr val="F6F0E6"/>
          </a:solidFill>
          <a:ln/>
        </p:spPr>
      </p:sp>
      <p:pic>
        <p:nvPicPr>
          <p:cNvPr id="4" name="Image 0" descr="Atmiya University logo">    </p:cNvPr>
          <p:cNvPicPr>
            <a:picLocks noChangeAspect="1"/>
          </p:cNvPicPr>
          <p:nvPr/>
        </p:nvPicPr>
        <p:blipFill>
          <a:blip r:embed="rId1"/>
          <a:srcRect l="-84" r="-84" t="0" b="0"/>
          <a:stretch/>
        </p:blipFill>
        <p:spPr>
          <a:xfrm>
            <a:off x="1066767" y="685767"/>
            <a:ext cx="1790678" cy="508000"/>
          </a:xfrm>
          <a:prstGeom prst="rect">
            <a:avLst/>
          </a:prstGeom>
        </p:spPr>
      </p:pic>
      <p:pic>
        <p:nvPicPr>
          <p:cNvPr id="5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8731360" y="635000"/>
            <a:ext cx="609589" cy="609589"/>
          </a:xfrm>
          <a:prstGeom prst="rect">
            <a:avLst/>
          </a:prstGeom>
        </p:spPr>
      </p:pic>
      <p:pic>
        <p:nvPicPr>
          <p:cNvPr id="6" name="Image 2" descr="ADSC logo">    </p:cNvPr>
          <p:cNvPicPr>
            <a:picLocks noChangeAspect="1"/>
          </p:cNvPicPr>
          <p:nvPr/>
        </p:nvPicPr>
        <p:blipFill>
          <a:blip r:embed="rId3"/>
          <a:srcRect l="0" r="0" t="-76" b="-76"/>
          <a:stretch/>
        </p:blipFill>
        <p:spPr>
          <a:xfrm>
            <a:off x="9645716" y="774678"/>
            <a:ext cx="1479517" cy="33017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12767" y="2231705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ATMIYA DEVELOPER STUDENTS CLUB PRESENTS</a:t>
            </a:r>
            <a:endParaRPr lang="en-US" sz="1200" dirty="0"/>
          </a:p>
        </p:txBody>
      </p:sp>
      <p:sp>
        <p:nvSpPr>
          <p:cNvPr id="8" name="Text 3"/>
          <p:cNvSpPr/>
          <p:nvPr>
            <p:ph type="title"/>
          </p:nvPr>
        </p:nvSpPr>
        <p:spPr>
          <a:xfrm>
            <a:off x="812767" y="2673670"/>
            <a:ext cx="10883460" cy="985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1" i="0" spc="100" kern="0" dirty="0">
                <a:solidFill>
                  <a:srgbClr val="F6F0E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CODE CARNIVAL </a:t>
            </a:r>
            <a:r>
              <a:rPr lang="en-US" sz="7200" b="1" i="0" spc="100" kern="0" dirty="0">
                <a:solidFill>
                  <a:srgbClr val="EF435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3.0</a:t>
            </a:r>
            <a:endParaRPr lang="en-US" sz="7200" dirty="0"/>
          </a:p>
        </p:txBody>
      </p:sp>
      <p:sp>
        <p:nvSpPr>
          <p:cNvPr id="9" name="Text 4"/>
          <p:cNvSpPr/>
          <p:nvPr/>
        </p:nvSpPr>
        <p:spPr>
          <a:xfrm>
            <a:off x="812767" y="3862365"/>
            <a:ext cx="1088346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9CF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Idea Submission  ·  AegisRAG: answers only from the files you are allowed to read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815942" y="4378556"/>
            <a:ext cx="3414216" cy="853987"/>
          </a:xfrm>
          <a:prstGeom prst="roundRect">
            <a:avLst>
              <a:gd name="adj" fmla="val 5577"/>
            </a:avLst>
          </a:prstGeom>
          <a:noFill/>
          <a:ln w="6350">
            <a:solidFill>
              <a:srgbClr val="4A3F38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994062" y="4531265"/>
            <a:ext cx="3149716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TEAM NAME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994062" y="4795407"/>
            <a:ext cx="314971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Boor Bots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4388864" y="4378556"/>
            <a:ext cx="3414216" cy="853987"/>
          </a:xfrm>
          <a:prstGeom prst="roundRect">
            <a:avLst>
              <a:gd name="adj" fmla="val 5577"/>
            </a:avLst>
          </a:prstGeom>
          <a:noFill/>
          <a:ln w="6350">
            <a:solidFill>
              <a:srgbClr val="4A3F3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566984" y="4531265"/>
            <a:ext cx="3149716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TEAM ID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66984" y="4795407"/>
            <a:ext cx="314971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SJX3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7961786" y="4378556"/>
            <a:ext cx="3414216" cy="853987"/>
          </a:xfrm>
          <a:prstGeom prst="roundRect">
            <a:avLst>
              <a:gd name="adj" fmla="val 5577"/>
            </a:avLst>
          </a:prstGeom>
          <a:noFill/>
          <a:ln w="6350">
            <a:solidFill>
              <a:srgbClr val="4A3F3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139905" y="4531265"/>
            <a:ext cx="3149716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TEAM LEADER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139905" y="4795407"/>
            <a:ext cx="314971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Navadeep Gandloju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815942" y="5391249"/>
            <a:ext cx="6987139" cy="853987"/>
          </a:xfrm>
          <a:prstGeom prst="roundRect">
            <a:avLst>
              <a:gd name="adj" fmla="val 5577"/>
            </a:avLst>
          </a:prstGeom>
          <a:noFill/>
          <a:ln w="6350">
            <a:solidFill>
              <a:srgbClr val="4A3F3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94062" y="5543958"/>
            <a:ext cx="6829826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PROBLEM STATEMENT TITLE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94062" y="5808100"/>
            <a:ext cx="682982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PS-01 · Secure Multi-Modal RAG System with Access Control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7961786" y="5391249"/>
            <a:ext cx="3414216" cy="853987"/>
          </a:xfrm>
          <a:prstGeom prst="roundRect">
            <a:avLst>
              <a:gd name="adj" fmla="val 5577"/>
            </a:avLst>
          </a:prstGeom>
          <a:noFill/>
          <a:ln w="6350">
            <a:solidFill>
              <a:srgbClr val="4A3F38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139905" y="5543958"/>
            <a:ext cx="3149716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THEME / TRACK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139905" y="5808100"/>
            <a:ext cx="314971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AI Security · Enterprise RAG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tmiya University logo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812767" y="330178"/>
            <a:ext cx="1428750" cy="406356"/>
          </a:xfrm>
          <a:prstGeom prst="rect">
            <a:avLst/>
          </a:prstGeom>
        </p:spPr>
      </p:pic>
      <p:pic>
        <p:nvPicPr>
          <p:cNvPr id="3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9467948" y="304767"/>
            <a:ext cx="457178" cy="457178"/>
          </a:xfrm>
          <a:prstGeom prst="rect">
            <a:avLst/>
          </a:prstGeom>
        </p:spPr>
      </p:pic>
      <p:pic>
        <p:nvPicPr>
          <p:cNvPr id="4" name="Image 2" descr="ADSC logo">    </p:cNvPr>
          <p:cNvPicPr>
            <a:picLocks noChangeAspect="1"/>
          </p:cNvPicPr>
          <p:nvPr/>
        </p:nvPicPr>
        <p:blipFill>
          <a:blip r:embed="rId3"/>
          <a:srcRect l="0" r="0" t="-111" b="-111"/>
          <a:stretch/>
        </p:blipFill>
        <p:spPr>
          <a:xfrm>
            <a:off x="10128304" y="393678"/>
            <a:ext cx="1250928" cy="27935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12767" y="939713"/>
            <a:ext cx="10566466" cy="253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1"/>
          <p:cNvSpPr/>
          <p:nvPr/>
        </p:nvSpPr>
        <p:spPr>
          <a:xfrm>
            <a:off x="812767" y="1142836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01 · THE TARGET</a:t>
            </a:r>
            <a:endParaRPr lang="en-US" sz="1200" dirty="0"/>
          </a:p>
        </p:txBody>
      </p:sp>
      <p:sp>
        <p:nvSpPr>
          <p:cNvPr id="7" name="Text 2"/>
          <p:cNvSpPr/>
          <p:nvPr>
            <p:ph type="title"/>
          </p:nvPr>
        </p:nvSpPr>
        <p:spPr>
          <a:xfrm>
            <a:off x="812767" y="1406978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PROBLEM STATEMENT &amp; UNDERSTANDING</a:t>
            </a:r>
            <a:endParaRPr lang="en-US" sz="3200" dirty="0"/>
          </a:p>
        </p:txBody>
      </p:sp>
      <p:sp>
        <p:nvSpPr>
          <p:cNvPr id="9" name="Shape 4"/>
          <p:cNvSpPr/>
          <p:nvPr/>
        </p:nvSpPr>
        <p:spPr>
          <a:xfrm>
            <a:off x="815942" y="2319382"/>
            <a:ext cx="5175294" cy="3519443"/>
          </a:xfrm>
          <a:prstGeom prst="roundRect">
            <a:avLst>
              <a:gd name="adj" fmla="val 2075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070295" y="2548324"/>
            <a:ext cx="480658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154877" y="2949609"/>
            <a:ext cx="47143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169418" indent="-169418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Companies want one AI assistant over all files, but each file has its own readers</a:t>
            </a:r>
            <a:endParaRPr lang="en-US" sz="1800" dirty="0"/>
          </a:p>
          <a:p>
            <a:pPr algn="l" marL="169418" indent="-169418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Typical RAG searches everything, then filters, so restricted text can reach the model</a:t>
            </a:r>
            <a:endParaRPr lang="en-US" sz="1800" dirty="0"/>
          </a:p>
          <a:p>
            <a:pPr algn="l" marL="169418" indent="-169418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Access rules must hold across PDFs, scans, photos and spreadsheets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6200764" y="2319382"/>
            <a:ext cx="5175294" cy="3519443"/>
          </a:xfrm>
          <a:prstGeom prst="roundRect">
            <a:avLst>
              <a:gd name="adj" fmla="val 2075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455116" y="2548324"/>
            <a:ext cx="480658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OUR UNDERSTANDING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539698" y="2949609"/>
            <a:ext cx="47143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169418" indent="-169418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Root cause: permissions are checked after retrieval or written into the prompt</a:t>
            </a:r>
            <a:endParaRPr lang="en-US" sz="1800" dirty="0"/>
          </a:p>
          <a:p>
            <a:pPr algn="l" marL="169418" indent="-169418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Prompt rules can be bypassed by injected text such as “ignore previous instructions”</a:t>
            </a:r>
            <a:endParaRPr lang="en-US" sz="1800" dirty="0"/>
          </a:p>
          <a:p>
            <a:pPr algn="l" marL="169418" indent="-169418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LLMs guess totals over tables and cite sources that do not say it</a:t>
            </a:r>
            <a:endParaRPr lang="en-US" sz="1800" dirty="0"/>
          </a:p>
          <a:p>
            <a:pPr algn="l" marL="169418" indent="-169418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Revoking access must also hide answers given earlier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12767" y="6238269"/>
            <a:ext cx="58864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Carnival 3.0 · ADSC, Atmiya University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08983" y="6238269"/>
            <a:ext cx="32702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BOOR BOTS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tmiya University logo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812767" y="330178"/>
            <a:ext cx="1428750" cy="406356"/>
          </a:xfrm>
          <a:prstGeom prst="rect">
            <a:avLst/>
          </a:prstGeom>
        </p:spPr>
      </p:pic>
      <p:pic>
        <p:nvPicPr>
          <p:cNvPr id="3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9467948" y="304767"/>
            <a:ext cx="457178" cy="457178"/>
          </a:xfrm>
          <a:prstGeom prst="rect">
            <a:avLst/>
          </a:prstGeom>
        </p:spPr>
      </p:pic>
      <p:pic>
        <p:nvPicPr>
          <p:cNvPr id="4" name="Image 2" descr="ADSC logo">    </p:cNvPr>
          <p:cNvPicPr>
            <a:picLocks noChangeAspect="1"/>
          </p:cNvPicPr>
          <p:nvPr/>
        </p:nvPicPr>
        <p:blipFill>
          <a:blip r:embed="rId3"/>
          <a:srcRect l="0" r="0" t="-111" b="-111"/>
          <a:stretch/>
        </p:blipFill>
        <p:spPr>
          <a:xfrm>
            <a:off x="10128304" y="393678"/>
            <a:ext cx="1250928" cy="27935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12767" y="939712"/>
            <a:ext cx="10566466" cy="253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1"/>
          <p:cNvSpPr/>
          <p:nvPr/>
        </p:nvSpPr>
        <p:spPr>
          <a:xfrm>
            <a:off x="812767" y="1142834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 · THE PLAN</a:t>
            </a:r>
            <a:endParaRPr lang="en-US" sz="1200" dirty="0"/>
          </a:p>
        </p:txBody>
      </p:sp>
      <p:sp>
        <p:nvSpPr>
          <p:cNvPr id="7" name="Text 2"/>
          <p:cNvSpPr/>
          <p:nvPr>
            <p:ph type="title"/>
          </p:nvPr>
        </p:nvSpPr>
        <p:spPr>
          <a:xfrm>
            <a:off x="812767" y="1406978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9" name="Shape 4"/>
          <p:cNvSpPr/>
          <p:nvPr/>
        </p:nvSpPr>
        <p:spPr>
          <a:xfrm>
            <a:off x="815942" y="2319382"/>
            <a:ext cx="5161183" cy="3519443"/>
          </a:xfrm>
          <a:prstGeom prst="roundRect">
            <a:avLst>
              <a:gd name="adj" fmla="val 2075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070295" y="2548324"/>
            <a:ext cx="4792052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OUR IDEA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154877" y="2949608"/>
            <a:ext cx="469985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169418" indent="-169418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AegisRAG compiles each user’s permissions into the retrieval SQL query</a:t>
            </a:r>
            <a:endParaRPr lang="en-US" sz="1800" dirty="0"/>
          </a:p>
          <a:p>
            <a:pPr algn="l" marL="169418" indent="-169418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Restricted chunks are never loaded, ranked or sent to the model</a:t>
            </a:r>
            <a:endParaRPr lang="en-US" sz="1800" dirty="0"/>
          </a:p>
          <a:p>
            <a:pPr algn="l" marL="169418" indent="-169418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Totals over spreadsheets are computed in code, only on rows the user may read</a:t>
            </a:r>
            <a:endParaRPr lang="en-US" sz="1800" dirty="0"/>
          </a:p>
          <a:p>
            <a:pPr algn="l" marL="169418" indent="-169418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 answer cites its source; unsupported claims are removed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6193003" y="2325732"/>
            <a:ext cx="5176705" cy="3506743"/>
          </a:xfrm>
          <a:prstGeom prst="roundRect">
            <a:avLst>
              <a:gd name="adj" fmla="val 1901"/>
            </a:avLst>
          </a:prstGeom>
          <a:noFill/>
          <a:ln w="6350">
            <a:solidFill>
              <a:srgbClr val="E2D8C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12767" y="6238269"/>
            <a:ext cx="58864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Carnival 3.0 · ADSC, Atmiya University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08983" y="6238269"/>
            <a:ext cx="32702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BOOR BOTS</a:t>
            </a:r>
            <a:endParaRPr lang="en-US" sz="1200" dirty="0"/>
          </a:p>
        </p:txBody>
      </p:sp>
      <p:pic>
        <p:nvPicPr>
          <p:cNvPr id="17" name="Picture 16" descr="img_concep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0163" y="2573122"/>
            <a:ext cx="4902385" cy="2691921"/>
          </a:xfrm>
          <a:prstGeom prst="rect">
            <a:avLst/>
          </a:prstGeom>
          <a:ln w="9525">
            <a:solidFill>
              <a:srgbClr val="E2D8C8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6330163" y="5439282"/>
            <a:ext cx="490238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A504A"/>
                </a:solidFill>
                <a:latin typeface="Public Sans"/>
              </a:rPr>
              <a:t>Deny by default: blocked chunks are filtered inside the database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tmiya University logo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812767" y="330178"/>
            <a:ext cx="1428750" cy="406356"/>
          </a:xfrm>
          <a:prstGeom prst="rect">
            <a:avLst/>
          </a:prstGeom>
        </p:spPr>
      </p:pic>
      <p:pic>
        <p:nvPicPr>
          <p:cNvPr id="3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9467948" y="304769"/>
            <a:ext cx="457178" cy="457178"/>
          </a:xfrm>
          <a:prstGeom prst="rect">
            <a:avLst/>
          </a:prstGeom>
        </p:spPr>
      </p:pic>
      <p:pic>
        <p:nvPicPr>
          <p:cNvPr id="4" name="Image 2" descr="ADSC logo">    </p:cNvPr>
          <p:cNvPicPr>
            <a:picLocks noChangeAspect="1"/>
          </p:cNvPicPr>
          <p:nvPr/>
        </p:nvPicPr>
        <p:blipFill>
          <a:blip r:embed="rId3"/>
          <a:srcRect l="0" r="0" t="-111" b="-111"/>
          <a:stretch/>
        </p:blipFill>
        <p:spPr>
          <a:xfrm>
            <a:off x="10128304" y="393678"/>
            <a:ext cx="1250928" cy="27935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12767" y="939713"/>
            <a:ext cx="10566466" cy="253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1"/>
          <p:cNvSpPr/>
          <p:nvPr/>
        </p:nvSpPr>
        <p:spPr>
          <a:xfrm>
            <a:off x="812767" y="1142836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 · THE ARSENAL</a:t>
            </a:r>
            <a:endParaRPr lang="en-US" sz="1200" dirty="0"/>
          </a:p>
        </p:txBody>
      </p:sp>
      <p:sp>
        <p:nvSpPr>
          <p:cNvPr id="7" name="Text 2"/>
          <p:cNvSpPr/>
          <p:nvPr>
            <p:ph type="title"/>
          </p:nvPr>
        </p:nvSpPr>
        <p:spPr>
          <a:xfrm>
            <a:off x="812767" y="1406978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KEY FEATURES / FUNCTIONALITY</a:t>
            </a:r>
            <a:endParaRPr lang="en-US" sz="3200" dirty="0"/>
          </a:p>
        </p:txBody>
      </p:sp>
      <p:sp>
        <p:nvSpPr>
          <p:cNvPr id="9" name="Shape 4"/>
          <p:cNvSpPr/>
          <p:nvPr/>
        </p:nvSpPr>
        <p:spPr>
          <a:xfrm>
            <a:off x="815942" y="2319384"/>
            <a:ext cx="5200705" cy="1680369"/>
          </a:xfrm>
          <a:prstGeom prst="roundRect">
            <a:avLst>
              <a:gd name="adj" fmla="val 4346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019473" y="2497503"/>
            <a:ext cx="558800" cy="43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1679828" y="2497503"/>
            <a:ext cx="42572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Access rule inside SQL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1679828" y="2936415"/>
            <a:ext cx="425728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Tenant, grant, clearance and row rules filter every search, count and citation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6175353" y="2319384"/>
            <a:ext cx="5200705" cy="1680369"/>
          </a:xfrm>
          <a:prstGeom prst="roundRect">
            <a:avLst>
              <a:gd name="adj" fmla="val 4346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378883" y="2497503"/>
            <a:ext cx="558800" cy="43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0"/>
          <p:cNvSpPr/>
          <p:nvPr/>
        </p:nvSpPr>
        <p:spPr>
          <a:xfrm>
            <a:off x="7039239" y="2497503"/>
            <a:ext cx="42572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Multimodal ingestion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7039239" y="2936415"/>
            <a:ext cx="425728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PDF, scans, photos, DOCX, XLSX, CSV and JSON; OCR via Gemini Vision or RapidOCR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815942" y="4158456"/>
            <a:ext cx="5200705" cy="1680369"/>
          </a:xfrm>
          <a:prstGeom prst="roundRect">
            <a:avLst>
              <a:gd name="adj" fmla="val 4346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019473" y="4336579"/>
            <a:ext cx="558800" cy="43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1679828" y="4336579"/>
            <a:ext cx="42572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Exact answers over records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679828" y="4775491"/>
            <a:ext cx="425728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Sums, averages and group-bys run in code on only the rows each user may see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175353" y="4158456"/>
            <a:ext cx="5200705" cy="1680369"/>
          </a:xfrm>
          <a:prstGeom prst="roundRect">
            <a:avLst>
              <a:gd name="adj" fmla="val 4346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378883" y="4336579"/>
            <a:ext cx="558800" cy="43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3200" dirty="0"/>
          </a:p>
        </p:txBody>
      </p:sp>
      <p:sp>
        <p:nvSpPr>
          <p:cNvPr id="23" name="Text 18"/>
          <p:cNvSpPr/>
          <p:nvPr/>
        </p:nvSpPr>
        <p:spPr>
          <a:xfrm>
            <a:off x="7039239" y="4336579"/>
            <a:ext cx="42572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Verified citations and audit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7039239" y="4775491"/>
            <a:ext cx="425728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Each claim is checked against its cited chunk; revoked access withdraws old answers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812767" y="6238270"/>
            <a:ext cx="58864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Carnival 3.0 · ADSC, Atmiya University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8108983" y="6238270"/>
            <a:ext cx="32702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BOOR BOTS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tmiya University logo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812767" y="330178"/>
            <a:ext cx="1428750" cy="406356"/>
          </a:xfrm>
          <a:prstGeom prst="rect">
            <a:avLst/>
          </a:prstGeom>
        </p:spPr>
      </p:pic>
      <p:pic>
        <p:nvPicPr>
          <p:cNvPr id="3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9467948" y="304769"/>
            <a:ext cx="457178" cy="457178"/>
          </a:xfrm>
          <a:prstGeom prst="rect">
            <a:avLst/>
          </a:prstGeom>
        </p:spPr>
      </p:pic>
      <p:pic>
        <p:nvPicPr>
          <p:cNvPr id="4" name="Image 2" descr="ADSC logo">    </p:cNvPr>
          <p:cNvPicPr>
            <a:picLocks noChangeAspect="1"/>
          </p:cNvPicPr>
          <p:nvPr/>
        </p:nvPicPr>
        <p:blipFill>
          <a:blip r:embed="rId3"/>
          <a:srcRect l="0" r="0" t="-111" b="-111"/>
          <a:stretch/>
        </p:blipFill>
        <p:spPr>
          <a:xfrm>
            <a:off x="10128304" y="393678"/>
            <a:ext cx="1250928" cy="27935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12767" y="939713"/>
            <a:ext cx="10566466" cy="253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1"/>
          <p:cNvSpPr/>
          <p:nvPr/>
        </p:nvSpPr>
        <p:spPr>
          <a:xfrm>
            <a:off x="812767" y="1142836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 · THE EXECUTION</a:t>
            </a:r>
            <a:endParaRPr lang="en-US" sz="1200" dirty="0"/>
          </a:p>
        </p:txBody>
      </p:sp>
      <p:sp>
        <p:nvSpPr>
          <p:cNvPr id="7" name="Text 2"/>
          <p:cNvSpPr/>
          <p:nvPr>
            <p:ph type="title"/>
          </p:nvPr>
        </p:nvSpPr>
        <p:spPr>
          <a:xfrm>
            <a:off x="812767" y="1406978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HOW THE SOLUTION WILL WORK</a:t>
            </a:r>
            <a:endParaRPr lang="en-US" sz="3200" dirty="0"/>
          </a:p>
        </p:txBody>
      </p:sp>
      <p:sp>
        <p:nvSpPr>
          <p:cNvPr id="9" name="Shape 4"/>
          <p:cNvSpPr/>
          <p:nvPr/>
        </p:nvSpPr>
        <p:spPr>
          <a:xfrm>
            <a:off x="812767" y="2316209"/>
            <a:ext cx="2317805" cy="791710"/>
          </a:xfrm>
          <a:prstGeom prst="roundRect">
            <a:avLst>
              <a:gd name="adj" fmla="val 9625"/>
            </a:avLst>
          </a:prstGeom>
          <a:solidFill>
            <a:srgbClr val="17120F"/>
          </a:solidFill>
          <a:ln/>
        </p:spPr>
      </p:sp>
      <p:sp>
        <p:nvSpPr>
          <p:cNvPr id="10" name="Text 5"/>
          <p:cNvSpPr/>
          <p:nvPr/>
        </p:nvSpPr>
        <p:spPr>
          <a:xfrm>
            <a:off x="990534" y="2468563"/>
            <a:ext cx="2021139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STEP 1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990534" y="2732705"/>
            <a:ext cx="2021139" cy="248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Sign in: signed JWT</a:t>
            </a:r>
            <a:endParaRPr lang="en-US" sz="1300" dirty="0"/>
          </a:p>
        </p:txBody>
      </p:sp>
      <p:pic>
        <p:nvPicPr>
          <p:cNvPr id="12" name="Image 3" descr="connector">    </p:cNvPr>
          <p:cNvPicPr>
            <a:picLocks noChangeAspect="1"/>
          </p:cNvPicPr>
          <p:nvPr/>
        </p:nvPicPr>
        <p:blipFill>
          <a:blip r:embed="rId4"/>
          <a:srcRect l="0" r="0" t="-8" b="-8"/>
          <a:stretch/>
        </p:blipFill>
        <p:spPr>
          <a:xfrm>
            <a:off x="3206750" y="2648536"/>
            <a:ext cx="279356" cy="127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562284" y="2316209"/>
            <a:ext cx="2317860" cy="791710"/>
          </a:xfrm>
          <a:prstGeom prst="roundRect">
            <a:avLst>
              <a:gd name="adj" fmla="val 9625"/>
            </a:avLst>
          </a:prstGeom>
          <a:solidFill>
            <a:srgbClr val="17120F"/>
          </a:solidFill>
          <a:ln/>
        </p:spPr>
      </p:sp>
      <p:sp>
        <p:nvSpPr>
          <p:cNvPr id="14" name="Text 8"/>
          <p:cNvSpPr/>
          <p:nvPr/>
        </p:nvSpPr>
        <p:spPr>
          <a:xfrm>
            <a:off x="3740050" y="2468563"/>
            <a:ext cx="2021196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STEP 2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3740050" y="2732705"/>
            <a:ext cx="2021196" cy="248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SQL permission filter</a:t>
            </a:r>
            <a:endParaRPr lang="en-US" sz="1300" dirty="0"/>
          </a:p>
        </p:txBody>
      </p:sp>
      <p:pic>
        <p:nvPicPr>
          <p:cNvPr id="16" name="Image 4" descr="connector">    </p:cNvPr>
          <p:cNvPicPr>
            <a:picLocks noChangeAspect="1"/>
          </p:cNvPicPr>
          <p:nvPr/>
        </p:nvPicPr>
        <p:blipFill>
          <a:blip r:embed="rId5"/>
          <a:srcRect l="0" r="0" t="-8" b="-8"/>
          <a:stretch/>
        </p:blipFill>
        <p:spPr>
          <a:xfrm>
            <a:off x="5956322" y="2648536"/>
            <a:ext cx="279356" cy="1270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311855" y="2316209"/>
            <a:ext cx="2317805" cy="791710"/>
          </a:xfrm>
          <a:prstGeom prst="roundRect">
            <a:avLst>
              <a:gd name="adj" fmla="val 9625"/>
            </a:avLst>
          </a:prstGeom>
          <a:solidFill>
            <a:srgbClr val="17120F"/>
          </a:solidFill>
          <a:ln/>
        </p:spPr>
      </p:sp>
      <p:sp>
        <p:nvSpPr>
          <p:cNvPr id="18" name="Text 11"/>
          <p:cNvSpPr/>
          <p:nvPr/>
        </p:nvSpPr>
        <p:spPr>
          <a:xfrm>
            <a:off x="6489622" y="2468563"/>
            <a:ext cx="2021139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STEP 3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6489622" y="2732705"/>
            <a:ext cx="2140038" cy="248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Search or compute</a:t>
            </a:r>
            <a:endParaRPr lang="en-US" sz="1300" dirty="0"/>
          </a:p>
        </p:txBody>
      </p:sp>
      <p:pic>
        <p:nvPicPr>
          <p:cNvPr id="20" name="Image 5" descr="connector">    </p:cNvPr>
          <p:cNvPicPr>
            <a:picLocks noChangeAspect="1"/>
          </p:cNvPicPr>
          <p:nvPr/>
        </p:nvPicPr>
        <p:blipFill>
          <a:blip r:embed="rId6"/>
          <a:srcRect l="0" r="0" t="-8" b="-8"/>
          <a:stretch/>
        </p:blipFill>
        <p:spPr>
          <a:xfrm>
            <a:off x="8705838" y="2648536"/>
            <a:ext cx="279356" cy="12700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9061372" y="2316209"/>
            <a:ext cx="2317860" cy="791710"/>
          </a:xfrm>
          <a:prstGeom prst="roundRect">
            <a:avLst>
              <a:gd name="adj" fmla="val 9625"/>
            </a:avLst>
          </a:prstGeom>
          <a:solidFill>
            <a:srgbClr val="17120F"/>
          </a:solidFill>
          <a:ln/>
        </p:spPr>
      </p:sp>
      <p:sp>
        <p:nvSpPr>
          <p:cNvPr id="22" name="Text 14"/>
          <p:cNvSpPr/>
          <p:nvPr/>
        </p:nvSpPr>
        <p:spPr>
          <a:xfrm>
            <a:off x="9239139" y="2468563"/>
            <a:ext cx="2021196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STEP 4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9239139" y="2732705"/>
            <a:ext cx="2021196" cy="248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Cited, verified answer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822292" y="3295210"/>
            <a:ext cx="10547416" cy="2537266"/>
          </a:xfrm>
          <a:prstGeom prst="roundRect">
            <a:avLst>
              <a:gd name="adj" fmla="val 2628"/>
            </a:avLst>
          </a:prstGeom>
          <a:noFill/>
          <a:ln w="6350">
            <a:solidFill>
              <a:srgbClr val="E2D8C8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812767" y="6238270"/>
            <a:ext cx="58864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Carnival 3.0 · ADSC, Atmiya University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8108983" y="6238270"/>
            <a:ext cx="32702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BOOR BOTS</a:t>
            </a:r>
            <a:endParaRPr lang="en-US" sz="1200" dirty="0"/>
          </a:p>
        </p:txBody>
      </p:sp>
      <p:sp>
        <p:nvSpPr>
          <p:cNvPr id="29" name="Rounded Rectangle 28"/>
          <p:cNvSpPr/>
          <p:nvPr/>
        </p:nvSpPr>
        <p:spPr>
          <a:xfrm>
            <a:off x="1005172" y="3496378"/>
            <a:ext cx="1481328" cy="1572768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2700">
            <a:solidFill>
              <a:srgbClr val="E2D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78324" y="3569530"/>
            <a:ext cx="1335024" cy="1426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E1917"/>
                </a:solidFill>
                <a:latin typeface="Public Sans"/>
              </a:rPr>
              <a:t>User question</a:t>
            </a:r>
          </a:p>
          <a:p>
            <a:pPr algn="ctr"/>
            <a:r>
              <a:rPr sz="1050" b="0">
                <a:solidFill>
                  <a:srgbClr val="5A504A"/>
                </a:solidFill>
                <a:latin typeface="Public Sans"/>
              </a:rPr>
              <a:t>Identity read only from the signed token: roles, clearance, department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5237" y="3496378"/>
            <a:ext cx="1481328" cy="1572768"/>
          </a:xfrm>
          <a:prstGeom prst="roundRect">
            <a:avLst>
              <a:gd name="adj" fmla="val 6000"/>
            </a:avLst>
          </a:prstGeom>
          <a:solidFill>
            <a:srgbClr val="1E1917"/>
          </a:solidFill>
          <a:ln w="12700">
            <a:solidFill>
              <a:srgbClr val="1E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818389" y="3569530"/>
            <a:ext cx="1335024" cy="1426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ublic Sans"/>
              </a:rPr>
              <a:t>SQL access gate</a:t>
            </a:r>
          </a:p>
          <a:p>
            <a:pPr algn="ctr"/>
            <a:r>
              <a:rPr sz="1050" b="0">
                <a:solidFill>
                  <a:srgbClr val="E2D8C8"/>
                </a:solidFill>
                <a:latin typeface="Public Sans"/>
              </a:rPr>
              <a:t>Document rule AND row rule, inside every query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5303" y="3496378"/>
            <a:ext cx="1481328" cy="722376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2700">
            <a:solidFill>
              <a:srgbClr val="E2D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558455" y="3569530"/>
            <a:ext cx="1335024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E1917"/>
                </a:solidFill>
                <a:latin typeface="Public Sans"/>
              </a:rPr>
              <a:t>Track A · Records</a:t>
            </a:r>
          </a:p>
          <a:p>
            <a:pPr algn="ctr"/>
            <a:r>
              <a:rPr sz="1050" b="0">
                <a:solidFill>
                  <a:srgbClr val="5A504A"/>
                </a:solidFill>
                <a:latin typeface="Public Sans"/>
              </a:rPr>
              <a:t>Exact SUM, COUNT, GROUP BY in code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5303" y="4346770"/>
            <a:ext cx="1481328" cy="722376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2700">
            <a:solidFill>
              <a:srgbClr val="E2D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58455" y="4419922"/>
            <a:ext cx="1335024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E1917"/>
                </a:solidFill>
                <a:latin typeface="Public Sans"/>
              </a:rPr>
              <a:t>Track B · Docs</a:t>
            </a:r>
          </a:p>
          <a:p>
            <a:pPr algn="ctr"/>
            <a:r>
              <a:rPr sz="1050" b="0">
                <a:solidFill>
                  <a:srgbClr val="5A504A"/>
                </a:solidFill>
                <a:latin typeface="Public Sans"/>
              </a:rPr>
              <a:t>Vectors + BM25, fused with RRF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25368" y="3496378"/>
            <a:ext cx="1481328" cy="1572768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2700">
            <a:solidFill>
              <a:srgbClr val="E2D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298520" y="3569530"/>
            <a:ext cx="1335024" cy="1426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E1917"/>
                </a:solidFill>
                <a:latin typeface="Public Sans"/>
              </a:rPr>
              <a:t>Grounded answer</a:t>
            </a:r>
          </a:p>
          <a:p>
            <a:pPr algn="ctr"/>
            <a:r>
              <a:rPr sz="1050" b="0">
                <a:solidFill>
                  <a:srgbClr val="5A504A"/>
                </a:solidFill>
                <a:latin typeface="Public Sans"/>
              </a:rPr>
              <a:t>Gemini returns JSON; every point cites an evidence id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65434" y="3496378"/>
            <a:ext cx="1481328" cy="1572768"/>
          </a:xfrm>
          <a:prstGeom prst="roundRect">
            <a:avLst>
              <a:gd name="adj" fmla="val 6000"/>
            </a:avLst>
          </a:prstGeom>
          <a:solidFill>
            <a:srgbClr val="EAF4EC"/>
          </a:solidFill>
          <a:ln w="12700">
            <a:solidFill>
              <a:srgbClr val="E2D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038586" y="3569530"/>
            <a:ext cx="1335024" cy="1426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6B3A"/>
                </a:solidFill>
                <a:latin typeface="Public Sans"/>
              </a:rPr>
              <a:t>Claim check</a:t>
            </a:r>
          </a:p>
          <a:p>
            <a:pPr algn="ctr"/>
            <a:r>
              <a:rPr sz="1050" b="0">
                <a:solidFill>
                  <a:srgbClr val="5A504A"/>
                </a:solidFill>
                <a:latin typeface="Public Sans"/>
              </a:rPr>
              <a:t>Numbers and words must match the cited chunk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05500" y="3496378"/>
            <a:ext cx="1481328" cy="1572768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2700">
            <a:solidFill>
              <a:srgbClr val="E2D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778652" y="3569530"/>
            <a:ext cx="1335024" cy="1426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E1917"/>
                </a:solidFill>
                <a:latin typeface="Public Sans"/>
              </a:rPr>
              <a:t>Answer + audit</a:t>
            </a:r>
          </a:p>
          <a:p>
            <a:pPr algn="ctr"/>
            <a:r>
              <a:rPr sz="1050" b="0">
                <a:solidFill>
                  <a:srgbClr val="5A504A"/>
                </a:solidFill>
                <a:latin typeface="Public Sans"/>
              </a:rPr>
              <a:t>Highlighted source on the page; decision logged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513931" y="4282762"/>
            <a:ext cx="203874" cy="0"/>
          </a:xfrm>
          <a:prstGeom prst="line">
            <a:avLst/>
          </a:prstGeom>
          <a:ln w="22225">
            <a:solidFill>
              <a:srgbClr val="5A50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253997" y="3857566"/>
            <a:ext cx="203874" cy="425196"/>
          </a:xfrm>
          <a:prstGeom prst="line">
            <a:avLst/>
          </a:prstGeom>
          <a:ln w="22225">
            <a:solidFill>
              <a:srgbClr val="5A50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53997" y="4282762"/>
            <a:ext cx="203874" cy="425196"/>
          </a:xfrm>
          <a:prstGeom prst="line">
            <a:avLst/>
          </a:prstGeom>
          <a:ln w="22225">
            <a:solidFill>
              <a:srgbClr val="5A50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994063" y="3857566"/>
            <a:ext cx="203873" cy="425196"/>
          </a:xfrm>
          <a:prstGeom prst="line">
            <a:avLst/>
          </a:prstGeom>
          <a:ln w="22225">
            <a:solidFill>
              <a:srgbClr val="5A50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994063" y="4282762"/>
            <a:ext cx="203873" cy="425196"/>
          </a:xfrm>
          <a:prstGeom prst="line">
            <a:avLst/>
          </a:prstGeom>
          <a:ln w="22225">
            <a:solidFill>
              <a:srgbClr val="5A50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734128" y="4282762"/>
            <a:ext cx="203874" cy="0"/>
          </a:xfrm>
          <a:prstGeom prst="line">
            <a:avLst/>
          </a:prstGeom>
          <a:ln w="22225">
            <a:solidFill>
              <a:srgbClr val="5A50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474194" y="4282762"/>
            <a:ext cx="203874" cy="0"/>
          </a:xfrm>
          <a:prstGeom prst="line">
            <a:avLst/>
          </a:prstGeom>
          <a:ln w="22225">
            <a:solidFill>
              <a:srgbClr val="5A50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2745237" y="5215450"/>
            <a:ext cx="3221393" cy="475488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 w="12700">
            <a:solidFill>
              <a:srgbClr val="F0C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2836677" y="5215450"/>
            <a:ext cx="303851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8102E"/>
                </a:solidFill>
                <a:latin typeface="Public Sans"/>
              </a:rPr>
              <a:t>Blocked chunks are never loaded, ranked or sent to the model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25368" y="5215450"/>
            <a:ext cx="4961459" cy="475488"/>
          </a:xfrm>
          <a:prstGeom prst="roundRect">
            <a:avLst>
              <a:gd name="adj" fmla="val 6000"/>
            </a:avLst>
          </a:prstGeom>
          <a:solidFill>
            <a:srgbClr val="EAF4EC"/>
          </a:solidFill>
          <a:ln w="12700">
            <a:solidFill>
              <a:srgbClr val="BFD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316808" y="5215450"/>
            <a:ext cx="477857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F6B3A"/>
                </a:solidFill>
                <a:latin typeface="Public Sans"/>
              </a:rPr>
              <a:t>Unsupported claims are removed before the user sees the answer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tmiya University logo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812767" y="330178"/>
            <a:ext cx="1428750" cy="406356"/>
          </a:xfrm>
          <a:prstGeom prst="rect">
            <a:avLst/>
          </a:prstGeom>
        </p:spPr>
      </p:pic>
      <p:pic>
        <p:nvPicPr>
          <p:cNvPr id="3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9467948" y="304769"/>
            <a:ext cx="457178" cy="457178"/>
          </a:xfrm>
          <a:prstGeom prst="rect">
            <a:avLst/>
          </a:prstGeom>
        </p:spPr>
      </p:pic>
      <p:pic>
        <p:nvPicPr>
          <p:cNvPr id="4" name="Image 2" descr="ADSC logo">    </p:cNvPr>
          <p:cNvPicPr>
            <a:picLocks noChangeAspect="1"/>
          </p:cNvPicPr>
          <p:nvPr/>
        </p:nvPicPr>
        <p:blipFill>
          <a:blip r:embed="rId3"/>
          <a:srcRect l="0" r="0" t="-111" b="-111"/>
          <a:stretch/>
        </p:blipFill>
        <p:spPr>
          <a:xfrm>
            <a:off x="10128304" y="393678"/>
            <a:ext cx="1250928" cy="27935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12767" y="939713"/>
            <a:ext cx="10566466" cy="2535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6" name="Text 1"/>
          <p:cNvSpPr/>
          <p:nvPr/>
        </p:nvSpPr>
        <p:spPr>
          <a:xfrm>
            <a:off x="812767" y="1142836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 · THE GEAR</a:t>
            </a:r>
            <a:endParaRPr lang="en-US" sz="1200" dirty="0"/>
          </a:p>
        </p:txBody>
      </p:sp>
      <p:sp>
        <p:nvSpPr>
          <p:cNvPr id="7" name="Text 2"/>
          <p:cNvSpPr/>
          <p:nvPr>
            <p:ph type="title"/>
          </p:nvPr>
        </p:nvSpPr>
        <p:spPr>
          <a:xfrm>
            <a:off x="812767" y="1406978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TECHNOLOGY / TECH STACK</a:t>
            </a:r>
            <a:endParaRPr lang="en-US" sz="3200" dirty="0"/>
          </a:p>
        </p:txBody>
      </p:sp>
      <p:sp>
        <p:nvSpPr>
          <p:cNvPr id="9" name="Shape 4"/>
          <p:cNvSpPr/>
          <p:nvPr/>
        </p:nvSpPr>
        <p:spPr>
          <a:xfrm>
            <a:off x="812767" y="2316206"/>
            <a:ext cx="10566466" cy="2701175"/>
          </a:xfrm>
          <a:prstGeom prst="rect">
            <a:avLst/>
          </a:prstGeom>
          <a:solidFill>
            <a:srgbClr val="FFFDF8"/>
          </a:solidFill>
          <a:ln/>
        </p:spPr>
        <p:txBody>
          <a:bodyPr/>
          <a:p/>
        </p:txBody>
      </p:sp>
      <p:sp>
        <p:nvSpPr>
          <p:cNvPr id="10" name="Shape 5"/>
          <p:cNvSpPr/>
          <p:nvPr/>
        </p:nvSpPr>
        <p:spPr>
          <a:xfrm>
            <a:off x="11376058" y="2316206"/>
            <a:ext cx="0" cy="2701175"/>
          </a:xfrm>
          <a:prstGeom prst="line">
            <a:avLst/>
          </a:prstGeom>
          <a:noFill/>
          <a:ln w="6350">
            <a:solidFill>
              <a:srgbClr val="E2D8C8"/>
            </a:solidFill>
            <a:prstDash val="solid"/>
          </a:ln>
        </p:spPr>
        <p:txBody>
          <a:bodyPr/>
          <a:p/>
        </p:txBody>
      </p:sp>
      <p:sp>
        <p:nvSpPr>
          <p:cNvPr id="11" name="Shape 6"/>
          <p:cNvSpPr/>
          <p:nvPr/>
        </p:nvSpPr>
        <p:spPr>
          <a:xfrm>
            <a:off x="812767" y="5014206"/>
            <a:ext cx="10566466" cy="0"/>
          </a:xfrm>
          <a:prstGeom prst="line">
            <a:avLst/>
          </a:prstGeom>
          <a:noFill/>
          <a:ln w="6350">
            <a:solidFill>
              <a:srgbClr val="E2D8C8"/>
            </a:solidFill>
            <a:prstDash val="solid"/>
          </a:ln>
        </p:spPr>
        <p:txBody>
          <a:bodyPr/>
          <a:p/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350" y="2326789"/>
          <a:ext cx="10552355" cy="2687064"/>
        </p:xfrm>
        <a:graphic>
          <a:graphicData uri="http://schemas.openxmlformats.org/drawingml/2006/table">
            <a:tbl>
              <a:tblPr/>
              <a:tblGrid>
                <a:gridCol w="1737360"/>
                <a:gridCol w="3931920"/>
                <a:gridCol w="4883075"/>
              </a:tblGrid>
              <a:tr h="38386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0E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Layer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2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0E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Technology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2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0E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Why we chose it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20F"/>
                    </a:solidFill>
                  </a:tcPr>
                </a:tc>
              </a:tr>
              <a:tr h="383866"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Frontend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React 18, TypeScript, Vite, Tailwind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Typed UI, fast builds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866"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Backend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Python, FastAPI, SQLAlchemy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Async API, signed identity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866"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Database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PostgreSQL + pgvector, SQLite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Vectors and access rule in one query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866"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AI / APIs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Gemini API, RapidOCR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Grounded JSON; offline OCR fallback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866"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Hosting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Render, Docker Compose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One-file deploy via render.yaml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866"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Tools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GitHub, pytest, PyMuPDF, openpyxl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lnSpc>
                          <a:spcPts val="2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97 automated tests guard the rules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7"/>
          <p:cNvSpPr/>
          <p:nvPr/>
        </p:nvSpPr>
        <p:spPr>
          <a:xfrm>
            <a:off x="812767" y="6238270"/>
            <a:ext cx="58864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Carnival 3.0 · ADSC, Atmiya University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8108983" y="6238270"/>
            <a:ext cx="32702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BOOR BOTS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tmiya University logo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812767" y="330178"/>
            <a:ext cx="1428750" cy="406356"/>
          </a:xfrm>
          <a:prstGeom prst="rect">
            <a:avLst/>
          </a:prstGeom>
        </p:spPr>
      </p:pic>
      <p:pic>
        <p:nvPicPr>
          <p:cNvPr id="3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9467948" y="304766"/>
            <a:ext cx="457178" cy="457178"/>
          </a:xfrm>
          <a:prstGeom prst="rect">
            <a:avLst/>
          </a:prstGeom>
        </p:spPr>
      </p:pic>
      <p:pic>
        <p:nvPicPr>
          <p:cNvPr id="4" name="Image 2" descr="ADSC logo">    </p:cNvPr>
          <p:cNvPicPr>
            <a:picLocks noChangeAspect="1"/>
          </p:cNvPicPr>
          <p:nvPr/>
        </p:nvPicPr>
        <p:blipFill>
          <a:blip r:embed="rId3"/>
          <a:srcRect l="0" r="0" t="-111" b="-111"/>
          <a:stretch/>
        </p:blipFill>
        <p:spPr>
          <a:xfrm>
            <a:off x="10128304" y="393678"/>
            <a:ext cx="1250928" cy="27935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12767" y="939713"/>
            <a:ext cx="10566466" cy="253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1"/>
          <p:cNvSpPr/>
          <p:nvPr/>
        </p:nvSpPr>
        <p:spPr>
          <a:xfrm>
            <a:off x="812767" y="1142836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06 · INSIDE THE MINT</a:t>
            </a:r>
            <a:endParaRPr lang="en-US" sz="1200" dirty="0"/>
          </a:p>
        </p:txBody>
      </p:sp>
      <p:sp>
        <p:nvSpPr>
          <p:cNvPr id="7" name="Text 2"/>
          <p:cNvSpPr/>
          <p:nvPr>
            <p:ph type="title"/>
          </p:nvPr>
        </p:nvSpPr>
        <p:spPr>
          <a:xfrm>
            <a:off x="812767" y="1406978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CURRENT PROGRESS / WORK DONE</a:t>
            </a:r>
            <a:endParaRPr lang="en-US" sz="3200" dirty="0"/>
          </a:p>
        </p:txBody>
      </p:sp>
      <p:sp>
        <p:nvSpPr>
          <p:cNvPr id="9" name="Shape 4"/>
          <p:cNvSpPr/>
          <p:nvPr/>
        </p:nvSpPr>
        <p:spPr>
          <a:xfrm>
            <a:off x="815942" y="2319381"/>
            <a:ext cx="3370946" cy="3519443"/>
          </a:xfrm>
          <a:prstGeom prst="roundRect">
            <a:avLst>
              <a:gd name="adj" fmla="val 2166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044884" y="2522913"/>
            <a:ext cx="3000454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COMPLETED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129466" y="2898787"/>
            <a:ext cx="29082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169418" indent="-169418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Access rule in SQL, row rules, multi-tenant</a:t>
            </a:r>
            <a:endParaRPr lang="en-US" sz="1800" dirty="0"/>
          </a:p>
          <a:p>
            <a:pPr algn="l" marL="169418" indent="-169418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Ingestion: PDF, scans, photos, DOCX, sheets</a:t>
            </a:r>
            <a:endParaRPr lang="en-US" sz="1800" dirty="0"/>
          </a:p>
          <a:p>
            <a:pPr algn="l" marL="169418" indent="-169418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Hybrid search and exact analytics</a:t>
            </a:r>
            <a:endParaRPr lang="en-US" sz="1800" dirty="0"/>
          </a:p>
          <a:p>
            <a:pPr algn="l" marL="169418" indent="-169418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97 / 97 backend tests passing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4396416" y="2319381"/>
            <a:ext cx="3370946" cy="3519443"/>
          </a:xfrm>
          <a:prstGeom prst="roundRect">
            <a:avLst>
              <a:gd name="adj" fmla="val 2166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625357" y="2522913"/>
            <a:ext cx="3000454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 PROGRESS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4709939" y="2898787"/>
            <a:ext cx="29082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169418" indent="-169418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Gemini tuning within free-tier rate limits</a:t>
            </a:r>
            <a:endParaRPr lang="en-US" sz="1800" dirty="0"/>
          </a:p>
          <a:p>
            <a:pPr algn="l" marL="169418" indent="-169418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Cleaner tables in answers</a:t>
            </a:r>
            <a:endParaRPr lang="en-US" sz="1800" dirty="0"/>
          </a:p>
          <a:p>
            <a:pPr algn="l" marL="169418" indent="-169418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Catching rephrased injection (pattern-based today)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7983239" y="2325731"/>
            <a:ext cx="3386468" cy="3506743"/>
          </a:xfrm>
          <a:prstGeom prst="roundRect">
            <a:avLst>
              <a:gd name="adj" fmla="val 1969"/>
            </a:avLst>
          </a:prstGeom>
          <a:noFill/>
          <a:ln w="6350">
            <a:solidFill>
              <a:srgbClr val="E2D8C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12767" y="6238270"/>
            <a:ext cx="58864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Carnival 3.0 · ADSC, Atmiya University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108983" y="6238270"/>
            <a:ext cx="32702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BOOR BOTS</a:t>
            </a:r>
            <a:endParaRPr lang="en-US" sz="1200" dirty="0"/>
          </a:p>
        </p:txBody>
      </p:sp>
      <p:pic>
        <p:nvPicPr>
          <p:cNvPr id="20" name="Picture 19" descr="img_secur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6582" y="2453747"/>
            <a:ext cx="3079780" cy="1043804"/>
          </a:xfrm>
          <a:prstGeom prst="rect">
            <a:avLst/>
          </a:prstGeom>
          <a:ln w="9525">
            <a:solidFill>
              <a:srgbClr val="E2D8C8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8074679" y="3534127"/>
            <a:ext cx="32035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5A504A"/>
                </a:solidFill>
                <a:latin typeface="Public Sans"/>
              </a:rPr>
              <a:t>Live attack suite: 28 / 28 passing</a:t>
            </a:r>
          </a:p>
        </p:txBody>
      </p:sp>
      <p:pic>
        <p:nvPicPr>
          <p:cNvPr id="22" name="Picture 21" descr="img_em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6582" y="3845023"/>
            <a:ext cx="3079780" cy="1566826"/>
          </a:xfrm>
          <a:prstGeom prst="rect">
            <a:avLst/>
          </a:prstGeom>
          <a:ln w="9525">
            <a:solidFill>
              <a:srgbClr val="E2D8C8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8074679" y="5448426"/>
            <a:ext cx="32035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5A504A"/>
                </a:solidFill>
                <a:latin typeface="Public Sans"/>
              </a:rPr>
              <a:t>Employee asks for revenue: refused, no leak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tmiya University logo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812767" y="330181"/>
            <a:ext cx="1428750" cy="406356"/>
          </a:xfrm>
          <a:prstGeom prst="rect">
            <a:avLst/>
          </a:prstGeom>
        </p:spPr>
      </p:pic>
      <p:pic>
        <p:nvPicPr>
          <p:cNvPr id="3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9467948" y="304769"/>
            <a:ext cx="457178" cy="457178"/>
          </a:xfrm>
          <a:prstGeom prst="rect">
            <a:avLst/>
          </a:prstGeom>
        </p:spPr>
      </p:pic>
      <p:pic>
        <p:nvPicPr>
          <p:cNvPr id="4" name="Image 2" descr="ADSC logo">    </p:cNvPr>
          <p:cNvPicPr>
            <a:picLocks noChangeAspect="1"/>
          </p:cNvPicPr>
          <p:nvPr/>
        </p:nvPicPr>
        <p:blipFill>
          <a:blip r:embed="rId3"/>
          <a:srcRect l="0" r="0" t="-111" b="-111"/>
          <a:stretch/>
        </p:blipFill>
        <p:spPr>
          <a:xfrm>
            <a:off x="10128304" y="393681"/>
            <a:ext cx="1250928" cy="27935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12767" y="939713"/>
            <a:ext cx="10566466" cy="253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1"/>
          <p:cNvSpPr/>
          <p:nvPr/>
        </p:nvSpPr>
        <p:spPr>
          <a:xfrm>
            <a:off x="812767" y="1142839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 · THE GETAWAY</a:t>
            </a:r>
            <a:endParaRPr lang="en-US" sz="1200" dirty="0"/>
          </a:p>
        </p:txBody>
      </p:sp>
      <p:sp>
        <p:nvSpPr>
          <p:cNvPr id="7" name="Text 2"/>
          <p:cNvSpPr/>
          <p:nvPr>
            <p:ph type="title"/>
          </p:nvPr>
        </p:nvSpPr>
        <p:spPr>
          <a:xfrm>
            <a:off x="812767" y="1406978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FUTURE PLAN / NEXT STEPS</a:t>
            </a:r>
            <a:endParaRPr lang="en-US" sz="3200" dirty="0"/>
          </a:p>
        </p:txBody>
      </p:sp>
      <p:sp>
        <p:nvSpPr>
          <p:cNvPr id="9" name="Shape 4"/>
          <p:cNvSpPr/>
          <p:nvPr/>
        </p:nvSpPr>
        <p:spPr>
          <a:xfrm>
            <a:off x="815942" y="2319387"/>
            <a:ext cx="3380317" cy="3519443"/>
          </a:xfrm>
          <a:prstGeom prst="roundRect">
            <a:avLst>
              <a:gd name="adj" fmla="val 2160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044884" y="2522916"/>
            <a:ext cx="3010106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PHASE 1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044884" y="2837879"/>
            <a:ext cx="301010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DURING THE HACKATHON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1129466" y="3213751"/>
            <a:ext cx="29179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169418" indent="-169418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Deploy live with Gemini on Render</a:t>
            </a:r>
            <a:endParaRPr lang="en-US" sz="1800" dirty="0"/>
          </a:p>
          <a:p>
            <a:pPr algn="l" marL="169418" indent="-169418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Fix answer table layout</a:t>
            </a:r>
            <a:endParaRPr lang="en-US" sz="1800" dirty="0"/>
          </a:p>
          <a:p>
            <a:pPr algn="l" marL="169418" indent="-169418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Run the attack suite live in the demo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4405786" y="2319387"/>
            <a:ext cx="3380372" cy="3519443"/>
          </a:xfrm>
          <a:prstGeom prst="roundRect">
            <a:avLst>
              <a:gd name="adj" fmla="val 2160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634728" y="2522916"/>
            <a:ext cx="3010163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PHASE 2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634728" y="2837879"/>
            <a:ext cx="3010163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RIGHT AFTER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719310" y="3213751"/>
            <a:ext cx="2917961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169418" indent="-169418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Okta / Entra ID sign-in with SCIM role sync</a:t>
            </a:r>
            <a:endParaRPr lang="en-US" sz="1800" dirty="0"/>
          </a:p>
          <a:p>
            <a:pPr algn="l" marL="169418" indent="-169418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Reranker after RRF for sharper results</a:t>
            </a:r>
            <a:endParaRPr lang="en-US" sz="1800" dirty="0"/>
          </a:p>
          <a:p>
            <a:pPr algn="l" marL="169418" indent="-169418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Malware scanning of uploads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7995686" y="2319387"/>
            <a:ext cx="3380372" cy="3519443"/>
          </a:xfrm>
          <a:prstGeom prst="roundRect">
            <a:avLst>
              <a:gd name="adj" fmla="val 2160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224627" y="2522916"/>
            <a:ext cx="3010163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PHASE 3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224627" y="2837879"/>
            <a:ext cx="3010163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LONG-TERM VISION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309209" y="3213751"/>
            <a:ext cx="2917961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169418" indent="-169418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Audio and meeting transcripts with speaker-level access</a:t>
            </a:r>
            <a:endParaRPr lang="en-US" sz="1800" dirty="0"/>
          </a:p>
          <a:p>
            <a:pPr algn="l" marL="169418" indent="-169418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Pilot with one college or company department</a:t>
            </a:r>
            <a:endParaRPr lang="en-US" sz="1800" dirty="0"/>
          </a:p>
          <a:p>
            <a:pPr algn="l" marL="169418" indent="-169418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Per-seat SaaS plus a self-hosted option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12767" y="6238273"/>
            <a:ext cx="58864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Carnival 3.0 · ADSC, Atmiya University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108983" y="6238273"/>
            <a:ext cx="32702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BOOR BOTS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356" cy="6857999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812767" y="304769"/>
            <a:ext cx="10566466" cy="609534"/>
          </a:xfrm>
          <a:prstGeom prst="roundRect">
            <a:avLst>
              <a:gd name="adj" fmla="val 12501"/>
            </a:avLst>
          </a:prstGeom>
          <a:solidFill>
            <a:srgbClr val="F6F0E6"/>
          </a:solidFill>
          <a:ln/>
        </p:spPr>
      </p:sp>
      <p:pic>
        <p:nvPicPr>
          <p:cNvPr id="4" name="Image 0" descr="Atmiya University logo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1015945" y="406357"/>
            <a:ext cx="1428750" cy="406356"/>
          </a:xfrm>
          <a:prstGeom prst="rect">
            <a:avLst/>
          </a:prstGeom>
        </p:spPr>
      </p:pic>
      <p:pic>
        <p:nvPicPr>
          <p:cNvPr id="5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9264771" y="380950"/>
            <a:ext cx="457178" cy="457178"/>
          </a:xfrm>
          <a:prstGeom prst="rect">
            <a:avLst/>
          </a:prstGeom>
        </p:spPr>
      </p:pic>
      <p:pic>
        <p:nvPicPr>
          <p:cNvPr id="6" name="Image 2" descr="ADSC logo">    </p:cNvPr>
          <p:cNvPicPr>
            <a:picLocks noChangeAspect="1"/>
          </p:cNvPicPr>
          <p:nvPr/>
        </p:nvPicPr>
        <p:blipFill>
          <a:blip r:embed="rId3"/>
          <a:srcRect l="0" r="0" t="-111" b="-111"/>
          <a:stretch/>
        </p:blipFill>
        <p:spPr>
          <a:xfrm>
            <a:off x="9925127" y="469857"/>
            <a:ext cx="1250928" cy="27935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12767" y="1092070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08 · THE VAULT</a:t>
            </a:r>
            <a:endParaRPr lang="en-US" sz="1200" dirty="0"/>
          </a:p>
        </p:txBody>
      </p:sp>
      <p:sp>
        <p:nvSpPr>
          <p:cNvPr id="8" name="Text 3"/>
          <p:cNvSpPr/>
          <p:nvPr>
            <p:ph type="title"/>
          </p:nvPr>
        </p:nvSpPr>
        <p:spPr>
          <a:xfrm>
            <a:off x="812767" y="1356215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F6F0E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GITHUB REPOSITORY LINK</a:t>
            </a:r>
            <a:endParaRPr lang="en-US" sz="3200" dirty="0"/>
          </a:p>
        </p:txBody>
      </p:sp>
      <p:sp>
        <p:nvSpPr>
          <p:cNvPr id="10" name="Shape 5"/>
          <p:cNvSpPr/>
          <p:nvPr/>
        </p:nvSpPr>
        <p:spPr>
          <a:xfrm>
            <a:off x="819117" y="2271793"/>
            <a:ext cx="10553766" cy="856787"/>
          </a:xfrm>
          <a:prstGeom prst="roundRect">
            <a:avLst>
              <a:gd name="adj" fmla="val 8153"/>
            </a:avLst>
          </a:prstGeom>
          <a:noFill/>
          <a:ln w="12700">
            <a:solidFill>
              <a:srgbClr val="C8102E"/>
            </a:solidFill>
            <a:prstDash val="solid"/>
          </a:ln>
        </p:spPr>
      </p:sp>
      <p:pic>
        <p:nvPicPr>
          <p:cNvPr id="11" name="Image 3" descr="Lin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77350" y="2522364"/>
            <a:ext cx="355589" cy="355589"/>
          </a:xfrm>
          <a:prstGeom prst="rect">
            <a:avLst/>
          </a:prstGeom>
        </p:spPr>
      </p:pic>
      <p:sp>
        <p:nvSpPr>
          <p:cNvPr id="12" name="Text 6">
            <a:hlinkClick r:id="rId7"/>
          </p:cNvPr>
          <p:cNvSpPr/>
          <p:nvPr/>
        </p:nvSpPr>
        <p:spPr>
          <a:xfrm>
            <a:off x="1610706" y="2504616"/>
            <a:ext cx="9789061" cy="416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6F0E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https://github.com/Navadeep44/aegisrag-2</a:t>
            </a:r>
            <a:endParaRPr lang="en-US" sz="2200" dirty="0"/>
          </a:p>
        </p:txBody>
      </p:sp>
      <p:sp>
        <p:nvSpPr>
          <p:cNvPr id="13" name="Shape 7"/>
          <p:cNvSpPr/>
          <p:nvPr/>
        </p:nvSpPr>
        <p:spPr>
          <a:xfrm>
            <a:off x="815942" y="3315872"/>
            <a:ext cx="2520972" cy="2522956"/>
          </a:xfrm>
          <a:prstGeom prst="roundRect">
            <a:avLst>
              <a:gd name="adj" fmla="val 2897"/>
            </a:avLst>
          </a:prstGeom>
          <a:noFill/>
          <a:ln w="6350">
            <a:solidFill>
              <a:srgbClr val="4A3F38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994062" y="3468582"/>
            <a:ext cx="2229675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PUBLIC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994062" y="3732721"/>
            <a:ext cx="2229675" cy="471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9CF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Repository visibility is set to public.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3495620" y="3315872"/>
            <a:ext cx="2521027" cy="2522956"/>
          </a:xfrm>
          <a:prstGeom prst="roundRect">
            <a:avLst>
              <a:gd name="adj" fmla="val 2897"/>
            </a:avLst>
          </a:prstGeom>
          <a:noFill/>
          <a:ln w="6350">
            <a:solidFill>
              <a:srgbClr val="4A3F3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3673739" y="3468582"/>
            <a:ext cx="222973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README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3673739" y="3732721"/>
            <a:ext cx="2229731" cy="693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9CF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Covers setup, features, demo accounts and tests.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175353" y="3315872"/>
            <a:ext cx="2520972" cy="2522956"/>
          </a:xfrm>
          <a:prstGeom prst="roundRect">
            <a:avLst>
              <a:gd name="adj" fmla="val 2897"/>
            </a:avLst>
          </a:prstGeom>
          <a:noFill/>
          <a:ln w="6350">
            <a:solidFill>
              <a:srgbClr val="4A3F38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353472" y="3468582"/>
            <a:ext cx="2229675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COMMITS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353472" y="3732721"/>
            <a:ext cx="2229675" cy="471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9CF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Regular commits from both team members.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8855030" y="3315872"/>
            <a:ext cx="2521027" cy="2522956"/>
          </a:xfrm>
          <a:prstGeom prst="roundRect">
            <a:avLst>
              <a:gd name="adj" fmla="val 2897"/>
            </a:avLst>
          </a:prstGeom>
          <a:noFill/>
          <a:ln w="6350">
            <a:solidFill>
              <a:srgbClr val="4A3F3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9033150" y="3468582"/>
            <a:ext cx="222973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DEMO (OPTIONAL)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9033150" y="3732721"/>
            <a:ext cx="22311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9CF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Run locally in two commands (see README); Render config included.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12767" y="6238273"/>
            <a:ext cx="58864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9CF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Carnival 3.0 · ADSC, Atmiya University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108983" y="6238273"/>
            <a:ext cx="32702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BOOR BOTS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 Carnival 3.0 Idea Submission Template">
  <a:themeElements>
    <a:clrScheme name="Code Carnival 3.0 Idea Submission Template">
      <a:dk1>
        <a:srgbClr val="1E1917"/>
      </a:dk1>
      <a:lt1>
        <a:srgbClr val="F6F0E6"/>
      </a:lt1>
      <a:dk2>
        <a:srgbClr val="544F4B"/>
      </a:dk2>
      <a:lt2>
        <a:srgbClr val="E0DBD1"/>
      </a:lt2>
      <a:accent1>
        <a:srgbClr val="C8102E"/>
      </a:accent1>
      <a:accent2>
        <a:srgbClr val="EF4350"/>
      </a:accent2>
      <a:accent3>
        <a:srgbClr val="5A504A"/>
      </a:accent3>
      <a:accent4>
        <a:srgbClr val="D9CFC2"/>
      </a:accent4>
      <a:accent5>
        <a:srgbClr val="9AA0A6"/>
      </a:accent5>
      <a:accent6>
        <a:srgbClr val="746F6A"/>
      </a:accent6>
      <a:hlink>
        <a:srgbClr val="0563C1"/>
      </a:hlink>
      <a:folHlink>
        <a:srgbClr val="954F72"/>
      </a:folHlink>
    </a:clrScheme>
    <a:fontScheme name="Code Carnival 3.0 Idea Submission Template">
      <a:majorFont>
        <a:latin typeface="Oswa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ublic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Carnival 3.0 Idea Submission Template</dc:title>
  <dc:subject/>
  <dc:creator/>
  <cp:lastModifiedBy/>
  <cp:revision>1</cp:revision>
  <dcterms:created xsi:type="dcterms:W3CDTF">2026-10-08T15:43:46Z</dcterms:created>
  <dcterms:modified xsi:type="dcterms:W3CDTF">2026-10-08T15:43:46Z</dcterms:modified>
</cp:coreProperties>
</file>